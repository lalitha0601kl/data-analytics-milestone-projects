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0" r:id="rId4"/>
    <p:sldId id="258" r:id="rId5"/>
    <p:sldId id="259" r:id="rId6"/>
    <p:sldId id="269" r:id="rId7"/>
    <p:sldId id="261" r:id="rId8"/>
    <p:sldId id="262" r:id="rId9"/>
    <p:sldId id="263" r:id="rId10"/>
    <p:sldId id="264" r:id="rId11"/>
    <p:sldId id="265" r:id="rId12"/>
    <p:sldId id="270" r:id="rId13"/>
    <p:sldId id="271" r:id="rId14"/>
    <p:sldId id="272" r:id="rId15"/>
    <p:sldId id="273" r:id="rId16"/>
    <p:sldId id="274" r:id="rId17"/>
    <p:sldId id="275" r:id="rId18"/>
    <p:sldId id="276" r:id="rId19"/>
    <p:sldId id="277" r:id="rId20"/>
    <p:sldId id="266" r:id="rId21"/>
    <p:sldId id="267" r:id="rId22"/>
    <p:sldId id="268" r:id="rId23"/>
    <p:sldId id="27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7306E8C-A45A-4D89-9A4F-3039E7F6D0AC}" type="datetimeFigureOut">
              <a:rPr lang="en-IN" smtClean="0"/>
              <a:t>14-01-2026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7AC47CDE-4838-4ABD-B8B1-667B011BB91E}"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306E8C-A45A-4D89-9A4F-3039E7F6D0AC}" type="datetimeFigureOut">
              <a:rPr lang="en-IN" smtClean="0"/>
              <a:t>14-01-2026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7AC47CDE-4838-4ABD-B8B1-667B011BB91E}"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306E8C-A45A-4D89-9A4F-3039E7F6D0AC}" type="datetimeFigureOut">
              <a:rPr lang="en-IN" smtClean="0"/>
              <a:t>14-01-2026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C47CDE-4838-4ABD-B8B1-667B011BB91E}"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306E8C-A45A-4D89-9A4F-3039E7F6D0AC}" type="datetimeFigureOut">
              <a:rPr lang="en-IN" smtClean="0"/>
              <a:t>14-01-2026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C47CDE-4838-4ABD-B8B1-667B011BB91E}"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306E8C-A45A-4D89-9A4F-3039E7F6D0AC}" type="datetimeFigureOut">
              <a:rPr lang="en-IN" smtClean="0"/>
              <a:t>14-01-2026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AC47CDE-4838-4ABD-B8B1-667B011BB91E}"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7306E8C-A45A-4D89-9A4F-3039E7F6D0AC}" type="datetimeFigureOut">
              <a:rPr lang="en-IN" smtClean="0"/>
              <a:t>14-01-2026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AC47CDE-4838-4ABD-B8B1-667B011BB91E}"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306E8C-A45A-4D89-9A4F-3039E7F6D0AC}" type="datetimeFigureOut">
              <a:rPr lang="en-IN" smtClean="0"/>
              <a:t>14-01-2026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AC47CDE-4838-4ABD-B8B1-667B011BB91E}"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306E8C-A45A-4D89-9A4F-3039E7F6D0AC}" type="datetimeFigureOut">
              <a:rPr lang="en-IN" smtClean="0"/>
              <a:t>14-01-2026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C47CDE-4838-4ABD-B8B1-667B011BB91E}"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306E8C-A45A-4D89-9A4F-3039E7F6D0AC}" type="datetimeFigureOut">
              <a:rPr lang="en-IN" smtClean="0"/>
              <a:t>14-01-2026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C47CDE-4838-4ABD-B8B1-667B011BB91E}"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306E8C-A45A-4D89-9A4F-3039E7F6D0AC}" type="datetimeFigureOut">
              <a:rPr lang="en-IN" smtClean="0"/>
              <a:t>14-01-2026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C47CDE-4838-4ABD-B8B1-667B011BB91E}"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306E8C-A45A-4D89-9A4F-3039E7F6D0AC}" type="datetimeFigureOut">
              <a:rPr lang="en-IN" smtClean="0"/>
              <a:t>14-01-2026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C47CDE-4838-4ABD-B8B1-667B011BB91E}"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306E8C-A45A-4D89-9A4F-3039E7F6D0AC}" type="datetimeFigureOut">
              <a:rPr lang="en-IN" smtClean="0"/>
              <a:t>14-01-2026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C47CDE-4838-4ABD-B8B1-667B011BB91E}"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306E8C-A45A-4D89-9A4F-3039E7F6D0AC}" type="datetimeFigureOut">
              <a:rPr lang="en-IN" smtClean="0"/>
              <a:t>14-01-2026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C47CDE-4838-4ABD-B8B1-667B011BB91E}" type="slidenum">
              <a:rPr lang="en-IN" smtClean="0"/>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306E8C-A45A-4D89-9A4F-3039E7F6D0AC}" type="datetimeFigureOut">
              <a:rPr lang="en-IN" smtClean="0"/>
              <a:t>14-01-2026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C47CDE-4838-4ABD-B8B1-667B011BB91E}"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306E8C-A45A-4D89-9A4F-3039E7F6D0AC}" type="datetimeFigureOut">
              <a:rPr lang="en-IN" smtClean="0"/>
              <a:t>14-01-2026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C47CDE-4838-4ABD-B8B1-667B011BB91E}"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306E8C-A45A-4D89-9A4F-3039E7F6D0AC}" type="datetimeFigureOut">
              <a:rPr lang="en-IN" smtClean="0"/>
              <a:t>14-01-2026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C47CDE-4838-4ABD-B8B1-667B011BB91E}"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306E8C-A45A-4D89-9A4F-3039E7F6D0AC}" type="datetimeFigureOut">
              <a:rPr lang="en-IN" smtClean="0"/>
              <a:t>14-01-2026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C47CDE-4838-4ABD-B8B1-667B011BB91E}"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7306E8C-A45A-4D89-9A4F-3039E7F6D0AC}" type="datetimeFigureOut">
              <a:rPr lang="en-IN" smtClean="0"/>
              <a:t>14-01-2026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AC47CDE-4838-4ABD-B8B1-667B011BB91E}"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928401" y="1290918"/>
            <a:ext cx="8574622" cy="2705349"/>
          </a:xfrm>
        </p:spPr>
        <p:txBody>
          <a:bodyPr>
            <a:noAutofit/>
          </a:bodyPr>
          <a:lstStyle/>
          <a:p>
            <a:r>
              <a:rPr lang="en-US" sz="4400" b="1" dirty="0"/>
              <a:t>GLOBAL ECONOMIC &amp; DEMOGRAPHIC TREND ANALYSIS </a:t>
            </a:r>
            <a:br>
              <a:rPr lang="en-US" sz="4400" b="1" dirty="0"/>
            </a:br>
            <a:r>
              <a:rPr lang="en-US" sz="4400" b="1" dirty="0"/>
              <a:t>(1960–2016)</a:t>
            </a:r>
            <a:br>
              <a:rPr lang="en-US" sz="4400" dirty="0"/>
            </a:br>
            <a:r>
              <a:rPr lang="en-US" sz="4400" dirty="0"/>
              <a:t>Using Power BI &amp; DAX</a:t>
            </a:r>
            <a:endParaRPr lang="en-IN" sz="4400" dirty="0"/>
          </a:p>
        </p:txBody>
      </p:sp>
      <p:sp>
        <p:nvSpPr>
          <p:cNvPr id="5" name="Subtitle 4"/>
          <p:cNvSpPr>
            <a:spLocks noGrp="1"/>
          </p:cNvSpPr>
          <p:nvPr>
            <p:ph type="subTitle" idx="1"/>
          </p:nvPr>
        </p:nvSpPr>
        <p:spPr>
          <a:xfrm>
            <a:off x="5298141" y="4437529"/>
            <a:ext cx="6204881" cy="1568824"/>
          </a:xfrm>
        </p:spPr>
        <p:txBody>
          <a:bodyPr>
            <a:normAutofit/>
          </a:bodyPr>
          <a:lstStyle/>
          <a:p>
            <a:r>
              <a:rPr lang="en-US" dirty="0"/>
              <a:t>Prepared by: </a:t>
            </a:r>
            <a:r>
              <a:rPr lang="en-US" dirty="0" err="1"/>
              <a:t>Kamatchi</a:t>
            </a:r>
            <a:r>
              <a:rPr lang="en-US" dirty="0"/>
              <a:t> </a:t>
            </a:r>
            <a:r>
              <a:rPr lang="en-US" dirty="0" err="1"/>
              <a:t>Lalitha.R</a:t>
            </a:r>
            <a:endParaRPr lang="en-US" dirty="0"/>
          </a:p>
          <a:p>
            <a:r>
              <a:rPr lang="en-US" dirty="0"/>
              <a:t>Course &amp; Batch: DA &amp; DS(June25)</a:t>
            </a:r>
          </a:p>
          <a:p>
            <a:r>
              <a:rPr lang="en-US" dirty="0"/>
              <a:t>Date</a:t>
            </a:r>
            <a:r>
              <a:rPr lang="en-US"/>
              <a:t>: 12-01-2026</a:t>
            </a:r>
            <a:endParaRPr lang="en-US" dirty="0"/>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Project Objective</a:t>
            </a:r>
          </a:p>
        </p:txBody>
      </p:sp>
      <p:sp>
        <p:nvSpPr>
          <p:cNvPr id="3" name="Content Placeholder 2"/>
          <p:cNvSpPr>
            <a:spLocks noGrp="1"/>
          </p:cNvSpPr>
          <p:nvPr>
            <p:ph idx="1"/>
          </p:nvPr>
        </p:nvSpPr>
        <p:spPr>
          <a:xfrm>
            <a:off x="1484311" y="2667000"/>
            <a:ext cx="7587972" cy="2882154"/>
          </a:xfrm>
        </p:spPr>
        <p:txBody>
          <a:bodyPr>
            <a:normAutofit fontScale="92500" lnSpcReduction="20000"/>
          </a:bodyPr>
          <a:lstStyle/>
          <a:p>
            <a:r>
              <a:rPr lang="en-US" altLang="en-US" dirty="0"/>
              <a:t>Analyze global population and economic trends (1960–2016)</a:t>
            </a:r>
          </a:p>
          <a:p>
            <a:endParaRPr lang="en-US" altLang="en-US" dirty="0"/>
          </a:p>
          <a:p>
            <a:r>
              <a:rPr lang="en-US" altLang="en-US" dirty="0"/>
              <a:t>Identify regional growth patterns and inequalities</a:t>
            </a:r>
          </a:p>
          <a:p>
            <a:endParaRPr lang="en-US" altLang="en-US" dirty="0"/>
          </a:p>
          <a:p>
            <a:r>
              <a:rPr lang="en-US" altLang="en-US" dirty="0"/>
              <a:t>Apply DAX measures and statistical analysis</a:t>
            </a:r>
          </a:p>
          <a:p>
            <a:endParaRPr lang="en-US" altLang="en-US" dirty="0"/>
          </a:p>
          <a:p>
            <a:r>
              <a:rPr lang="en-US" altLang="en-US" dirty="0"/>
              <a:t>Present insights using interactive Power BI dashboards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Dataset Overview</a:t>
            </a:r>
          </a:p>
        </p:txBody>
      </p:sp>
      <p:sp>
        <p:nvSpPr>
          <p:cNvPr id="4" name="Content Placeholder 3"/>
          <p:cNvSpPr>
            <a:spLocks noGrp="1"/>
          </p:cNvSpPr>
          <p:nvPr>
            <p:ph sz="half" idx="2"/>
          </p:nvPr>
        </p:nvSpPr>
        <p:spPr>
          <a:xfrm>
            <a:off x="6607967" y="2667000"/>
            <a:ext cx="4553092" cy="2891118"/>
          </a:xfrm>
        </p:spPr>
        <p:txBody>
          <a:bodyPr/>
          <a:lstStyle/>
          <a:p>
            <a:r>
              <a:rPr lang="en-US" dirty="0">
                <a:latin typeface="Arial" panose="020B0604020202020204" pitchFamily="34" charset="0"/>
                <a:cs typeface="Arial" panose="020B0604020202020204" pitchFamily="34" charset="0"/>
              </a:rPr>
              <a:t>Average GDP per Capita: 9.7K</a:t>
            </a:r>
          </a:p>
          <a:p>
            <a:r>
              <a:rPr lang="en-US" dirty="0">
                <a:latin typeface="Arial" panose="020B0604020202020204" pitchFamily="34" charset="0"/>
                <a:cs typeface="Arial" panose="020B0604020202020204" pitchFamily="34" charset="0"/>
              </a:rPr>
              <a:t>Average Literacy Rate: 52%Average Birth Rate: 13.03</a:t>
            </a:r>
          </a:p>
          <a:p>
            <a:r>
              <a:rPr lang="en-US" dirty="0">
                <a:latin typeface="Arial" panose="020B0604020202020204" pitchFamily="34" charset="0"/>
                <a:cs typeface="Arial" panose="020B0604020202020204" pitchFamily="34" charset="0"/>
              </a:rPr>
              <a:t>Average Death Rate: 29.09</a:t>
            </a:r>
          </a:p>
          <a:p>
            <a:r>
              <a:rPr lang="en-US" dirty="0">
                <a:latin typeface="Arial" panose="020B0604020202020204" pitchFamily="34" charset="0"/>
                <a:cs typeface="Arial" panose="020B0604020202020204" pitchFamily="34" charset="0"/>
              </a:rPr>
              <a:t>Infant Mortality Mean: 13,501</a:t>
            </a:r>
            <a:endParaRPr lang="en-IN" dirty="0">
              <a:latin typeface="Arial" panose="020B0604020202020204" pitchFamily="34" charset="0"/>
              <a:cs typeface="Arial" panose="020B0604020202020204" pitchFamily="34" charset="0"/>
            </a:endParaRPr>
          </a:p>
        </p:txBody>
      </p:sp>
      <p:sp>
        <p:nvSpPr>
          <p:cNvPr id="8" name="Content Placeholder 7"/>
          <p:cNvSpPr>
            <a:spLocks noGrp="1"/>
          </p:cNvSpPr>
          <p:nvPr>
            <p:ph sz="half" idx="1"/>
          </p:nvPr>
        </p:nvSpPr>
        <p:spPr/>
        <p:txBody>
          <a:bodyPr/>
          <a:lstStyle/>
          <a:p>
            <a:pPr>
              <a:buFont typeface="Arial" panose="020B0604020202020204" pitchFamily="34" charset="0"/>
              <a:buChar char="•"/>
            </a:pPr>
            <a:r>
              <a:rPr lang="en-US" dirty="0">
                <a:latin typeface="Arial" panose="020B0604020202020204" pitchFamily="34" charset="0"/>
                <a:cs typeface="Arial" panose="020B0604020202020204" pitchFamily="34" charset="0"/>
              </a:rPr>
              <a:t>Total Countries: </a:t>
            </a:r>
            <a:r>
              <a:rPr lang="en-US" b="1" dirty="0">
                <a:latin typeface="Arial" panose="020B0604020202020204" pitchFamily="34" charset="0"/>
                <a:cs typeface="Arial" panose="020B0604020202020204" pitchFamily="34" charset="0"/>
              </a:rPr>
              <a:t>224</a:t>
            </a:r>
            <a:endParaRPr lang="en-US" dirty="0">
              <a:latin typeface="Arial" panose="020B0604020202020204" pitchFamily="34" charset="0"/>
              <a:cs typeface="Arial" panose="020B0604020202020204" pitchFamily="34" charset="0"/>
            </a:endParaRPr>
          </a:p>
          <a:p>
            <a:pPr>
              <a:buFont typeface="Arial" panose="020B0604020202020204" pitchFamily="34" charset="0"/>
              <a:buChar char="•"/>
            </a:pPr>
            <a:r>
              <a:rPr lang="en-US" dirty="0">
                <a:latin typeface="Arial" panose="020B0604020202020204" pitchFamily="34" charset="0"/>
                <a:cs typeface="Arial" panose="020B0604020202020204" pitchFamily="34" charset="0"/>
              </a:rPr>
              <a:t>Total Population: </a:t>
            </a:r>
            <a:r>
              <a:rPr lang="en-US" b="1" dirty="0">
                <a:latin typeface="Arial" panose="020B0604020202020204" pitchFamily="34" charset="0"/>
                <a:cs typeface="Arial" panose="020B0604020202020204" pitchFamily="34" charset="0"/>
              </a:rPr>
              <a:t>~6 Billion</a:t>
            </a:r>
            <a:endParaRPr lang="en-US" dirty="0">
              <a:latin typeface="Arial" panose="020B0604020202020204" pitchFamily="34" charset="0"/>
              <a:cs typeface="Arial" panose="020B0604020202020204" pitchFamily="34" charset="0"/>
            </a:endParaRPr>
          </a:p>
          <a:p>
            <a:pPr>
              <a:buFont typeface="Arial" panose="020B0604020202020204" pitchFamily="34" charset="0"/>
              <a:buChar char="•"/>
            </a:pPr>
            <a:r>
              <a:rPr lang="en-US" dirty="0">
                <a:latin typeface="Arial" panose="020B0604020202020204" pitchFamily="34" charset="0"/>
                <a:cs typeface="Arial" panose="020B0604020202020204" pitchFamily="34" charset="0"/>
              </a:rPr>
              <a:t>Time Period: </a:t>
            </a:r>
            <a:r>
              <a:rPr lang="en-US" b="1" dirty="0">
                <a:latin typeface="Arial" panose="020B0604020202020204" pitchFamily="34" charset="0"/>
                <a:cs typeface="Arial" panose="020B0604020202020204" pitchFamily="34" charset="0"/>
              </a:rPr>
              <a:t>1960–2016</a:t>
            </a:r>
            <a:endParaRPr lang="en-US" dirty="0">
              <a:latin typeface="Arial" panose="020B0604020202020204" pitchFamily="34" charset="0"/>
              <a:cs typeface="Arial" panose="020B0604020202020204" pitchFamily="34" charset="0"/>
            </a:endParaRPr>
          </a:p>
          <a:p>
            <a:pPr>
              <a:buFont typeface="Arial" panose="020B0604020202020204" pitchFamily="34" charset="0"/>
              <a:buChar char="•"/>
            </a:pPr>
            <a:r>
              <a:rPr lang="en-US" dirty="0">
                <a:latin typeface="Arial" panose="020B0604020202020204" pitchFamily="34" charset="0"/>
                <a:cs typeface="Arial" panose="020B0604020202020204" pitchFamily="34" charset="0"/>
              </a:rPr>
              <a:t>Dimensions: Country, Region, Year</a:t>
            </a:r>
          </a:p>
          <a:p>
            <a:pPr>
              <a:buFont typeface="Arial" panose="020B0604020202020204" pitchFamily="34" charset="0"/>
              <a:buChar char="•"/>
            </a:pPr>
            <a:r>
              <a:rPr lang="en-US" dirty="0">
                <a:latin typeface="Arial" panose="020B0604020202020204" pitchFamily="34" charset="0"/>
                <a:cs typeface="Arial" panose="020B0604020202020204" pitchFamily="34" charset="0"/>
              </a:rPr>
              <a:t>Measures: Population, GDP, Literacy, Birth Rate, Death Rate</a:t>
            </a:r>
          </a:p>
          <a:p>
            <a:endParaRPr lang="en-IN"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1"/>
            <a:ext cx="9120936" cy="1295400"/>
          </a:xfrm>
        </p:spPr>
        <p:txBody>
          <a:bodyPr/>
          <a:lstStyle/>
          <a:p>
            <a:r>
              <a:rPr lang="en-US" altLang="en-US" dirty="0"/>
              <a:t>Data Cleaning &amp; Data Processing</a:t>
            </a:r>
          </a:p>
        </p:txBody>
      </p:sp>
      <p:sp>
        <p:nvSpPr>
          <p:cNvPr id="3" name="Content Placeholder 2"/>
          <p:cNvSpPr>
            <a:spLocks noGrp="1"/>
          </p:cNvSpPr>
          <p:nvPr>
            <p:ph sz="half" idx="1"/>
          </p:nvPr>
        </p:nvSpPr>
        <p:spPr>
          <a:xfrm>
            <a:off x="1373985" y="1869140"/>
            <a:ext cx="4246886" cy="3975848"/>
          </a:xfrm>
        </p:spPr>
        <p:txBody>
          <a:bodyPr>
            <a:normAutofit fontScale="92500" lnSpcReduction="20000"/>
          </a:bodyPr>
          <a:lstStyle/>
          <a:p>
            <a:pPr marL="0" indent="0">
              <a:lnSpc>
                <a:spcPct val="100000"/>
              </a:lnSpc>
              <a:buNone/>
            </a:pPr>
            <a:r>
              <a:rPr lang="en-US" altLang="en-US" sz="3000" b="1" dirty="0"/>
              <a:t>Data Cleaning Steps</a:t>
            </a:r>
          </a:p>
          <a:p>
            <a:pPr>
              <a:lnSpc>
                <a:spcPct val="100000"/>
              </a:lnSpc>
              <a:buFont typeface="Arial" panose="020B0604020202020204" pitchFamily="34" charset="0"/>
              <a:buChar char="•"/>
            </a:pPr>
            <a:r>
              <a:rPr lang="en-US" altLang="en-US" sz="2600" dirty="0"/>
              <a:t>Removed duplicate records</a:t>
            </a:r>
          </a:p>
          <a:p>
            <a:pPr>
              <a:lnSpc>
                <a:spcPct val="100000"/>
              </a:lnSpc>
              <a:buFont typeface="Arial" panose="020B0604020202020204" pitchFamily="34" charset="0"/>
              <a:buChar char="•"/>
            </a:pPr>
            <a:r>
              <a:rPr lang="en-US" altLang="en-US" sz="2600" dirty="0"/>
              <a:t>Handled missing text values by replacing with "Unknown“</a:t>
            </a:r>
          </a:p>
          <a:p>
            <a:pPr>
              <a:lnSpc>
                <a:spcPct val="100000"/>
              </a:lnSpc>
              <a:buFont typeface="Arial" panose="020B0604020202020204" pitchFamily="34" charset="0"/>
              <a:buChar char="•"/>
            </a:pPr>
            <a:r>
              <a:rPr lang="en-US" altLang="en-US" sz="2600" dirty="0"/>
              <a:t>Standardized country, region, and income group names</a:t>
            </a:r>
          </a:p>
          <a:p>
            <a:pPr>
              <a:lnSpc>
                <a:spcPct val="100000"/>
              </a:lnSpc>
              <a:buFont typeface="Arial" panose="020B0604020202020204" pitchFamily="34" charset="0"/>
              <a:buChar char="•"/>
            </a:pPr>
            <a:r>
              <a:rPr lang="en-US" altLang="en-US" sz="2600" dirty="0"/>
              <a:t>Ensured Year column was in correct data type</a:t>
            </a:r>
          </a:p>
          <a:p>
            <a:pPr>
              <a:lnSpc>
                <a:spcPct val="100000"/>
              </a:lnSpc>
              <a:buFont typeface="Arial" panose="020B0604020202020204" pitchFamily="34" charset="0"/>
              <a:buChar char="•"/>
            </a:pPr>
            <a:r>
              <a:rPr lang="en-US" altLang="en-US" sz="2600" dirty="0"/>
              <a:t>Checked for outliers in population and GDP values</a:t>
            </a:r>
          </a:p>
        </p:txBody>
      </p:sp>
      <p:pic>
        <p:nvPicPr>
          <p:cNvPr id="13" name="Picture 12"/>
          <p:cNvPicPr>
            <a:picLocks noChangeAspect="1"/>
          </p:cNvPicPr>
          <p:nvPr/>
        </p:nvPicPr>
        <p:blipFill>
          <a:blip r:embed="rId2"/>
          <a:stretch>
            <a:fillRect/>
          </a:stretch>
        </p:blipFill>
        <p:spPr>
          <a:xfrm>
            <a:off x="6678295" y="2693035"/>
            <a:ext cx="1991360" cy="331089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Removed Duplicates &amp; Nulls, Standardized Formatting</a:t>
            </a:r>
          </a:p>
        </p:txBody>
      </p:sp>
      <p:pic>
        <p:nvPicPr>
          <p:cNvPr id="6" name="Content Placeholder 5"/>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599405" y="2667000"/>
            <a:ext cx="4894262" cy="288703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Content Placeholder 7"/>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768962" y="2548416"/>
            <a:ext cx="4536418" cy="31242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4000" b="1" dirty="0"/>
              <a:t>Data Processing Steps</a:t>
            </a:r>
            <a:br>
              <a:rPr lang="en-US" sz="4000" b="1" dirty="0"/>
            </a:br>
            <a:endParaRPr lang="en-IN" dirty="0"/>
          </a:p>
        </p:txBody>
      </p:sp>
      <p:sp>
        <p:nvSpPr>
          <p:cNvPr id="8" name="Content Placeholder 7"/>
          <p:cNvSpPr>
            <a:spLocks noGrp="1"/>
          </p:cNvSpPr>
          <p:nvPr>
            <p:ph idx="1"/>
          </p:nvPr>
        </p:nvSpPr>
        <p:spPr/>
        <p:txBody>
          <a:bodyPr/>
          <a:lstStyle/>
          <a:p>
            <a:pPr>
              <a:buFont typeface="Arial" panose="020B0604020202020204" pitchFamily="34" charset="0"/>
              <a:buChar char="•"/>
            </a:pPr>
            <a:r>
              <a:rPr lang="en-US" sz="2400" dirty="0"/>
              <a:t>Create relationships between tables (Country _ Year)</a:t>
            </a:r>
          </a:p>
          <a:p>
            <a:pPr>
              <a:buFont typeface="Arial" panose="020B0604020202020204" pitchFamily="34" charset="0"/>
              <a:buChar char="•"/>
            </a:pPr>
            <a:r>
              <a:rPr lang="en-US" sz="2400" dirty="0"/>
              <a:t>Converted raw indicators into </a:t>
            </a:r>
            <a:r>
              <a:rPr lang="en-US" sz="2400" b="1" dirty="0"/>
              <a:t>calculated measures</a:t>
            </a:r>
            <a:endParaRPr lang="en-US" sz="2400" dirty="0"/>
          </a:p>
          <a:p>
            <a:pPr>
              <a:buFont typeface="Arial" panose="020B0604020202020204" pitchFamily="34" charset="0"/>
              <a:buChar char="•"/>
            </a:pPr>
            <a:r>
              <a:rPr lang="en-US" sz="2400" dirty="0"/>
              <a:t>Aggregated data by </a:t>
            </a:r>
            <a:r>
              <a:rPr lang="en-US" sz="2400" b="1" dirty="0"/>
              <a:t>Region and Year</a:t>
            </a:r>
            <a:endParaRPr lang="en-US" sz="2400" dirty="0"/>
          </a:p>
          <a:p>
            <a:pPr>
              <a:buFont typeface="Arial" panose="020B0604020202020204" pitchFamily="34" charset="0"/>
              <a:buChar char="•"/>
            </a:pPr>
            <a:r>
              <a:rPr lang="en-US" sz="2400" dirty="0"/>
              <a:t>Optimized data model for </a:t>
            </a:r>
            <a:r>
              <a:rPr lang="en-US" sz="2400" b="1" dirty="0"/>
              <a:t>better performance</a:t>
            </a:r>
            <a:endParaRPr lang="en-US" sz="2400" dirty="0"/>
          </a:p>
          <a:p>
            <a:r>
              <a:rPr lang="en-US" sz="2400" dirty="0"/>
              <a:t> Result: Clean, reliable dataset ready for DAX calculations</a:t>
            </a:r>
          </a:p>
          <a:p>
            <a:endParaRPr lang="en-IN"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36516" y="1892588"/>
            <a:ext cx="2841003" cy="332487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KPI</a:t>
            </a:r>
          </a:p>
        </p:txBody>
      </p:sp>
      <p:sp>
        <p:nvSpPr>
          <p:cNvPr id="5" name="Rectangle 1"/>
          <p:cNvSpPr>
            <a:spLocks noGrp="1" noChangeArrowheads="1"/>
          </p:cNvSpPr>
          <p:nvPr>
            <p:ph sz="half"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a:ln>
                  <a:noFill/>
                </a:ln>
                <a:solidFill>
                  <a:schemeClr val="tx1"/>
                </a:solidFill>
                <a:effectLst/>
                <a:latin typeface="Arial" panose="020B0604020202020204" pitchFamily="34" charset="0"/>
              </a:rPr>
              <a:t>Average GDP per Capita: </a:t>
            </a:r>
            <a:r>
              <a:rPr kumimoji="0" lang="en-US" altLang="en-US" sz="1800" b="1" i="0" u="none" strike="noStrike" cap="none" normalizeH="0" baseline="0">
                <a:ln>
                  <a:noFill/>
                </a:ln>
                <a:solidFill>
                  <a:schemeClr val="tx1"/>
                </a:solidFill>
                <a:effectLst/>
                <a:latin typeface="Arial" panose="020B0604020202020204" pitchFamily="34" charset="0"/>
              </a:rPr>
              <a:t>9.7K</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a:ln>
                  <a:noFill/>
                </a:ln>
                <a:solidFill>
                  <a:schemeClr val="tx1"/>
                </a:solidFill>
                <a:effectLst/>
                <a:latin typeface="Arial" panose="020B0604020202020204" pitchFamily="34" charset="0"/>
              </a:rPr>
              <a:t>Average Literacy Rate: </a:t>
            </a:r>
            <a:r>
              <a:rPr kumimoji="0" lang="en-US" altLang="en-US" sz="1800" b="1" i="0" u="none" strike="noStrike" cap="none" normalizeH="0" baseline="0">
                <a:ln>
                  <a:noFill/>
                </a:ln>
                <a:solidFill>
                  <a:schemeClr val="tx1"/>
                </a:solidFill>
                <a:effectLst/>
                <a:latin typeface="Arial" panose="020B0604020202020204" pitchFamily="34" charset="0"/>
              </a:rPr>
              <a:t>52%</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a:ln>
                  <a:noFill/>
                </a:ln>
                <a:solidFill>
                  <a:schemeClr val="tx1"/>
                </a:solidFill>
                <a:effectLst/>
                <a:latin typeface="Arial" panose="020B0604020202020204" pitchFamily="34" charset="0"/>
              </a:rPr>
              <a:t>Average Birth Rate: </a:t>
            </a:r>
            <a:r>
              <a:rPr kumimoji="0" lang="en-US" altLang="en-US" sz="1800" b="1" i="0" u="none" strike="noStrike" cap="none" normalizeH="0" baseline="0">
                <a:ln>
                  <a:noFill/>
                </a:ln>
                <a:solidFill>
                  <a:schemeClr val="tx1"/>
                </a:solidFill>
                <a:effectLst/>
                <a:latin typeface="Arial" panose="020B0604020202020204" pitchFamily="34" charset="0"/>
              </a:rPr>
              <a:t>13.03</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a:ln>
                  <a:noFill/>
                </a:ln>
                <a:solidFill>
                  <a:schemeClr val="tx1"/>
                </a:solidFill>
                <a:effectLst/>
                <a:latin typeface="Arial" panose="020B0604020202020204" pitchFamily="34" charset="0"/>
              </a:rPr>
              <a:t>Average Death Rate: </a:t>
            </a:r>
            <a:r>
              <a:rPr kumimoji="0" lang="en-US" altLang="en-US" sz="1800" b="1" i="0" u="none" strike="noStrike" cap="none" normalizeH="0" baseline="0">
                <a:ln>
                  <a:noFill/>
                </a:ln>
                <a:solidFill>
                  <a:schemeClr val="tx1"/>
                </a:solidFill>
                <a:effectLst/>
                <a:latin typeface="Arial" panose="020B0604020202020204" pitchFamily="34" charset="0"/>
              </a:rPr>
              <a:t>29.09</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a:ln>
                  <a:noFill/>
                </a:ln>
                <a:solidFill>
                  <a:schemeClr val="tx1"/>
                </a:solidFill>
                <a:effectLst/>
                <a:latin typeface="Arial" panose="020B0604020202020204" pitchFamily="34" charset="0"/>
              </a:rPr>
              <a:t>Infant Mortality Mean: </a:t>
            </a:r>
            <a:r>
              <a:rPr kumimoji="0" lang="en-US" altLang="en-US" sz="1800" b="1" i="0" u="none" strike="noStrike" cap="none" normalizeH="0" baseline="0">
                <a:ln>
                  <a:noFill/>
                </a:ln>
                <a:solidFill>
                  <a:schemeClr val="tx1"/>
                </a:solidFill>
                <a:effectLst/>
                <a:latin typeface="Arial" panose="020B0604020202020204" pitchFamily="34" charset="0"/>
              </a:rPr>
              <a:t>13,501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3" name="Content Placeholder 12"/>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593169" y="2666999"/>
            <a:ext cx="2434289" cy="3124200"/>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DAX CALCULATIONS</a:t>
            </a:r>
          </a:p>
        </p:txBody>
      </p:sp>
      <p:sp>
        <p:nvSpPr>
          <p:cNvPr id="6" name="Rectangle 1"/>
          <p:cNvSpPr>
            <a:spLocks noGrp="1" noChangeArrowheads="1"/>
          </p:cNvSpPr>
          <p:nvPr>
            <p:ph idx="1"/>
          </p:nvPr>
        </p:nvSpPr>
        <p:spPr bwMode="auto">
          <a:xfrm>
            <a:off x="1494202" y="2635966"/>
            <a:ext cx="5609458"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1" i="0" u="none" strike="noStrike" cap="none" normalizeH="0" baseline="0" dirty="0">
                <a:ln>
                  <a:noFill/>
                </a:ln>
                <a:solidFill>
                  <a:schemeClr val="tx1"/>
                </a:solidFill>
                <a:effectLst/>
                <a:cs typeface="Arial" panose="020B0604020202020204" pitchFamily="34" charset="0"/>
              </a:rPr>
              <a:t>DAX – Average Population</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1" i="0" u="none" strike="noStrike" cap="none" normalizeH="0" baseline="0" dirty="0">
                <a:ln>
                  <a:noFill/>
                </a:ln>
                <a:solidFill>
                  <a:schemeClr val="tx1"/>
                </a:solidFill>
                <a:effectLst/>
                <a:cs typeface="Arial" panose="020B0604020202020204" pitchFamily="34" charset="0"/>
              </a:rPr>
              <a:t>Purpose</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cs typeface="Arial" panose="020B0604020202020204" pitchFamily="34" charset="0"/>
              </a:rPr>
              <a:t>To calculate overall average population across years.</a:t>
            </a:r>
            <a:endParaRPr kumimoji="0" lang="en-US" altLang="en-US" sz="1600" b="1"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1" i="0" u="none" strike="noStrike" cap="none" normalizeH="0" baseline="0" dirty="0">
                <a:ln>
                  <a:noFill/>
                </a:ln>
                <a:solidFill>
                  <a:schemeClr val="tx1"/>
                </a:solidFill>
                <a:effectLst/>
                <a:cs typeface="Arial" panose="020B0604020202020204" pitchFamily="34" charset="0"/>
              </a:rPr>
              <a:t>DAX Formula</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cs typeface="Arial" panose="020B0604020202020204" pitchFamily="34" charset="0"/>
              </a:rPr>
              <a:t>Avg Population = AVERAGE('GDP by Country'[Population]) </a:t>
            </a:r>
            <a:endParaRPr kumimoji="0" lang="en-US" altLang="en-US" sz="1600" b="1"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1" i="0" u="none" strike="noStrike" cap="none" normalizeH="0" baseline="0" dirty="0">
                <a:ln>
                  <a:noFill/>
                </a:ln>
                <a:solidFill>
                  <a:schemeClr val="tx1"/>
                </a:solidFill>
                <a:effectLst/>
                <a:cs typeface="Arial" panose="020B0604020202020204" pitchFamily="34" charset="0"/>
              </a:rPr>
              <a:t>Insight</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cs typeface="Arial" panose="020B0604020202020204" pitchFamily="34" charset="0"/>
              </a:rPr>
              <a:t>Shows baseline population level</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cs typeface="Arial" panose="020B0604020202020204" pitchFamily="34" charset="0"/>
              </a:rPr>
              <a:t>Used in KPI cards and trend visuals</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Content Placeholder 11"/>
          <p:cNvPicPr>
            <a:picLocks noGrp="1" noChangeAspect="1"/>
          </p:cNvPicPr>
          <p:nvPr>
            <p:ph sz="half" idx="4294967295"/>
          </p:nvPr>
        </p:nvPicPr>
        <p:blipFill>
          <a:blip r:embed="rId2" cstate="print">
            <a:extLst>
              <a:ext uri="{28A0092B-C50C-407E-A947-70E740481C1C}">
                <a14:useLocalDpi xmlns:a14="http://schemas.microsoft.com/office/drawing/2010/main" val="0"/>
              </a:ext>
            </a:extLst>
          </a:blip>
          <a:stretch>
            <a:fillRect/>
          </a:stretch>
        </p:blipFill>
        <p:spPr>
          <a:xfrm>
            <a:off x="7226300" y="2572385"/>
            <a:ext cx="4105275" cy="3147060"/>
          </a:xfrm>
        </p:spPr>
      </p:pic>
      <p:sp>
        <p:nvSpPr>
          <p:cNvPr id="10" name="TextBox 9"/>
          <p:cNvSpPr txBox="1"/>
          <p:nvPr/>
        </p:nvSpPr>
        <p:spPr>
          <a:xfrm>
            <a:off x="1494202" y="4757136"/>
            <a:ext cx="5095946" cy="830997"/>
          </a:xfrm>
          <a:prstGeom prst="rect">
            <a:avLst/>
          </a:prstGeom>
          <a:noFill/>
        </p:spPr>
        <p:txBody>
          <a:bodyPr wrap="square">
            <a:spAutoFit/>
          </a:bodyPr>
          <a:lstStyle/>
          <a:p>
            <a:r>
              <a:rPr lang="en-US" sz="1600" b="1" dirty="0">
                <a:cs typeface="Arial" panose="020B0604020202020204" pitchFamily="34" charset="0"/>
              </a:rPr>
              <a:t>Insight</a:t>
            </a:r>
          </a:p>
          <a:p>
            <a:pPr>
              <a:buFont typeface="Arial" panose="020B0604020202020204" pitchFamily="34" charset="0"/>
              <a:buChar char="•"/>
            </a:pPr>
            <a:r>
              <a:rPr lang="en-US" sz="1600" dirty="0">
                <a:cs typeface="Arial" panose="020B0604020202020204" pitchFamily="34" charset="0"/>
              </a:rPr>
              <a:t>Identifies rapid growth and decline years</a:t>
            </a:r>
          </a:p>
          <a:p>
            <a:pPr>
              <a:buFont typeface="Arial" panose="020B0604020202020204" pitchFamily="34" charset="0"/>
              <a:buChar char="•"/>
            </a:pPr>
            <a:r>
              <a:rPr lang="en-US" sz="1600" dirty="0">
                <a:cs typeface="Arial" panose="020B0604020202020204" pitchFamily="34" charset="0"/>
              </a:rPr>
              <a:t>Useful for demographic trend analysis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495191" y="528917"/>
            <a:ext cx="9201618" cy="1134035"/>
          </a:xfrm>
        </p:spPr>
        <p:txBody>
          <a:bodyPr/>
          <a:lstStyle/>
          <a:p>
            <a:r>
              <a:rPr lang="en-IN" dirty="0"/>
              <a:t>DAX FORMULAS USED</a:t>
            </a:r>
          </a:p>
        </p:txBody>
      </p:sp>
      <p:sp>
        <p:nvSpPr>
          <p:cNvPr id="3" name="Content Placeholder 2"/>
          <p:cNvSpPr>
            <a:spLocks noGrp="1"/>
          </p:cNvSpPr>
          <p:nvPr>
            <p:ph idx="1"/>
          </p:nvPr>
        </p:nvSpPr>
        <p:spPr>
          <a:xfrm>
            <a:off x="2273202" y="1837765"/>
            <a:ext cx="9201619" cy="3792070"/>
          </a:xfrm>
        </p:spPr>
        <p:txBody>
          <a:bodyPr>
            <a:normAutofit fontScale="92500" lnSpcReduction="10000"/>
          </a:bodyPr>
          <a:lstStyle/>
          <a:p>
            <a:pPr marL="0" indent="0">
              <a:buNone/>
            </a:pPr>
            <a:r>
              <a:rPr lang="en-US" sz="1400" dirty="0"/>
              <a:t>GDP per Capita =  DIVIDE(Avg Population by Region =</a:t>
            </a:r>
          </a:p>
          <a:p>
            <a:pPr marL="0" indent="0">
              <a:buNone/>
            </a:pPr>
            <a:r>
              <a:rPr lang="en-US" sz="1400" dirty="0"/>
              <a:t>CALCULATE(</a:t>
            </a:r>
          </a:p>
          <a:p>
            <a:pPr marL="0" indent="0">
              <a:buNone/>
            </a:pPr>
            <a:r>
              <a:rPr lang="en-US" sz="1400" dirty="0"/>
              <a:t>    AVERAGE('GDP by Country'[Population]),</a:t>
            </a:r>
          </a:p>
          <a:p>
            <a:pPr marL="0" indent="0">
              <a:buNone/>
            </a:pPr>
            <a:r>
              <a:rPr lang="en-US" sz="1400" dirty="0"/>
              <a:t>    ALLEXCEPT('GDP by Country', 'GDP by Country'[Region])</a:t>
            </a:r>
          </a:p>
          <a:p>
            <a:pPr marL="0" indent="0">
              <a:buNone/>
            </a:pPr>
            <a:r>
              <a:rPr lang="en-US" sz="1400" dirty="0"/>
              <a:t>)</a:t>
            </a:r>
          </a:p>
          <a:p>
            <a:pPr marL="0" indent="0">
              <a:buNone/>
            </a:pPr>
            <a:r>
              <a:rPr lang="en-US" sz="1400" dirty="0"/>
              <a:t>    SUM('GDP by Country'[GDP]),</a:t>
            </a:r>
          </a:p>
          <a:p>
            <a:pPr marL="0" indent="0">
              <a:buNone/>
            </a:pPr>
            <a:r>
              <a:rPr lang="en-US" sz="1400" dirty="0"/>
              <a:t>    SUM('GDP by Country'[Population])</a:t>
            </a:r>
          </a:p>
          <a:p>
            <a:pPr marL="0" indent="0">
              <a:buNone/>
            </a:pPr>
            <a:r>
              <a:rPr lang="en-US" sz="1400" dirty="0"/>
              <a:t>)</a:t>
            </a:r>
            <a:endParaRPr lang="en-IN" sz="1400" dirty="0"/>
          </a:p>
          <a:p>
            <a:pPr marL="0" indent="0">
              <a:buNone/>
            </a:pPr>
            <a:r>
              <a:rPr lang="en-IN" sz="1400" dirty="0" err="1"/>
              <a:t>Avg</a:t>
            </a:r>
            <a:r>
              <a:rPr lang="en-IN" sz="1400" dirty="0"/>
              <a:t> GDP per Capita =</a:t>
            </a:r>
          </a:p>
          <a:p>
            <a:pPr marL="0" indent="0">
              <a:buNone/>
            </a:pPr>
            <a:r>
              <a:rPr lang="en-IN" sz="1400" dirty="0"/>
              <a:t>AVERAGE('GDP by Country'[GDP per Capita])</a:t>
            </a:r>
          </a:p>
          <a:p>
            <a:pPr marL="0" indent="0">
              <a:buNone/>
            </a:pPr>
            <a:r>
              <a:rPr lang="en-US" sz="1400" dirty="0"/>
              <a:t>Infant Mortality Mean =</a:t>
            </a:r>
          </a:p>
          <a:p>
            <a:pPr marL="0" indent="0">
              <a:buNone/>
            </a:pPr>
            <a:r>
              <a:rPr lang="en-US" sz="1400" dirty="0"/>
              <a:t>AVERAGE('GDP by Country'[Infant Mortality])</a:t>
            </a:r>
            <a:endParaRPr lang="en-IN" sz="1400" dirty="0"/>
          </a:p>
          <a:p>
            <a:pPr marL="0" indent="0">
              <a:buNone/>
            </a:pPr>
            <a:endParaRPr lang="en-IN" sz="1400"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8553" y="2563907"/>
            <a:ext cx="4669020" cy="332590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Statistical Analysis Applied</a:t>
            </a:r>
            <a:endParaRPr lang="en-IN" dirty="0"/>
          </a:p>
        </p:txBody>
      </p:sp>
      <p:sp>
        <p:nvSpPr>
          <p:cNvPr id="3" name="Content Placeholder 2"/>
          <p:cNvSpPr>
            <a:spLocks noGrp="1"/>
          </p:cNvSpPr>
          <p:nvPr>
            <p:ph idx="1"/>
          </p:nvPr>
        </p:nvSpPr>
        <p:spPr/>
        <p:txBody>
          <a:bodyPr>
            <a:normAutofit fontScale="92500" lnSpcReduction="20000"/>
          </a:bodyPr>
          <a:lstStyle/>
          <a:p>
            <a:pPr marL="0" indent="0">
              <a:buNone/>
            </a:pPr>
            <a:endParaRPr lang="en-US" b="1" dirty="0"/>
          </a:p>
          <a:p>
            <a:pPr>
              <a:buFont typeface="Arial" panose="020B0604020202020204" pitchFamily="34" charset="0"/>
              <a:buChar char="•"/>
            </a:pPr>
            <a:r>
              <a:rPr lang="en-US" dirty="0"/>
              <a:t>Mean</a:t>
            </a:r>
          </a:p>
          <a:p>
            <a:pPr>
              <a:buFont typeface="Arial" panose="020B0604020202020204" pitchFamily="34" charset="0"/>
              <a:buChar char="•"/>
            </a:pPr>
            <a:r>
              <a:rPr lang="en-US" dirty="0"/>
              <a:t>Year-over-Year Growth</a:t>
            </a:r>
          </a:p>
          <a:p>
            <a:pPr>
              <a:buFont typeface="Arial" panose="020B0604020202020204" pitchFamily="34" charset="0"/>
              <a:buChar char="•"/>
            </a:pPr>
            <a:r>
              <a:rPr lang="en-US" dirty="0"/>
              <a:t>Trend Analysis</a:t>
            </a:r>
          </a:p>
          <a:p>
            <a:pPr>
              <a:buFont typeface="Arial" panose="020B0604020202020204" pitchFamily="34" charset="0"/>
              <a:buChar char="•"/>
            </a:pPr>
            <a:r>
              <a:rPr lang="en-US" dirty="0"/>
              <a:t>Regional Aggregation</a:t>
            </a:r>
          </a:p>
          <a:p>
            <a:pPr>
              <a:buFont typeface="Arial" panose="020B0604020202020204" pitchFamily="34" charset="0"/>
              <a:buChar char="•"/>
            </a:pPr>
            <a:r>
              <a:rPr lang="en-US" dirty="0"/>
              <a:t>Comparative Analysis</a:t>
            </a:r>
          </a:p>
          <a:p>
            <a:pPr marL="0" indent="0">
              <a:buNone/>
            </a:pPr>
            <a:r>
              <a:rPr lang="en-US" dirty="0"/>
              <a:t> All statistics computed using </a:t>
            </a:r>
            <a:r>
              <a:rPr lang="en-US" b="1" dirty="0"/>
              <a:t>DAX measures</a:t>
            </a:r>
            <a:endParaRPr lang="en-US" dirty="0"/>
          </a:p>
          <a:p>
            <a:pPr marL="0" indent="0">
              <a:buNone/>
            </a:pPr>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84510" y="1845046"/>
            <a:ext cx="2046427" cy="476810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0829" y="596154"/>
            <a:ext cx="8107924" cy="658906"/>
          </a:xfrm>
        </p:spPr>
        <p:txBody>
          <a:bodyPr>
            <a:normAutofit fontScale="90000"/>
          </a:bodyPr>
          <a:lstStyle/>
          <a:p>
            <a:r>
              <a:rPr lang="en-IN" dirty="0"/>
              <a:t>WORLD GDP ANALYSIS DASHBOARD</a:t>
            </a:r>
          </a:p>
        </p:txBody>
      </p:sp>
      <p:pic>
        <p:nvPicPr>
          <p:cNvPr id="5" name="Content Placeholder 4"/>
          <p:cNvPicPr>
            <a:picLocks noGrp="1" noChangeAspect="1"/>
          </p:cNvPicPr>
          <p:nvPr>
            <p:ph idx="1"/>
          </p:nvPr>
        </p:nvPicPr>
        <p:blipFill>
          <a:blip r:embed="rId2"/>
          <a:stretch>
            <a:fillRect/>
          </a:stretch>
        </p:blipFill>
        <p:spPr>
          <a:xfrm>
            <a:off x="2365600" y="1689848"/>
            <a:ext cx="8107924" cy="4476314"/>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3995" y="685800"/>
            <a:ext cx="9382760" cy="1212215"/>
          </a:xfrm>
        </p:spPr>
        <p:txBody>
          <a:bodyPr/>
          <a:lstStyle/>
          <a:p>
            <a:r>
              <a:rPr lang="en-IN" altLang="en-US"/>
              <a:t>DASHBOARD OVERVIEW</a:t>
            </a:r>
          </a:p>
        </p:txBody>
      </p:sp>
      <p:sp>
        <p:nvSpPr>
          <p:cNvPr id="3" name="Content Placeholder 2"/>
          <p:cNvSpPr>
            <a:spLocks noGrp="1"/>
          </p:cNvSpPr>
          <p:nvPr>
            <p:ph idx="1"/>
          </p:nvPr>
        </p:nvSpPr>
        <p:spPr/>
        <p:txBody>
          <a:bodyPr>
            <a:noAutofit/>
          </a:bodyPr>
          <a:lstStyle/>
          <a:p>
            <a:r>
              <a:rPr lang="en-US" altLang="en-US" sz="1900"/>
              <a:t>This Power BI dashboard presents a consolidated view of global population, health, and economic indicators across multiple decades.</a:t>
            </a:r>
          </a:p>
          <a:p>
            <a:endParaRPr lang="en-US" altLang="en-US" sz="1900"/>
          </a:p>
          <a:p>
            <a:r>
              <a:rPr lang="en-US" altLang="en-US" sz="1900"/>
              <a:t>The dashboard integrates key metrics such as population growth, birth and death rates, infant mortality, GDP, and income groups.</a:t>
            </a:r>
          </a:p>
          <a:p>
            <a:endParaRPr lang="en-US" altLang="en-US" sz="1900"/>
          </a:p>
          <a:p>
            <a:r>
              <a:rPr lang="en-US" altLang="en-US" sz="1900"/>
              <a:t>It enables trend analysis, regional comparison, and correlation analysis to support data-driven insights.</a:t>
            </a:r>
          </a:p>
          <a:p>
            <a:endParaRPr lang="en-US" altLang="en-US" sz="1900"/>
          </a:p>
          <a:p>
            <a:r>
              <a:rPr lang="en-US" altLang="en-US" sz="1900"/>
              <a:t>The dashboard is designed using a 16:9 layout (1280 × 720 px) for optimal readability and professional presentation.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3995" y="685800"/>
            <a:ext cx="9316085" cy="1078230"/>
          </a:xfrm>
        </p:spPr>
        <p:txBody>
          <a:bodyPr/>
          <a:lstStyle/>
          <a:p>
            <a:r>
              <a:rPr lang="en-US" altLang="en-US"/>
              <a:t>Key Performance Indicators (KPIs)</a:t>
            </a:r>
          </a:p>
        </p:txBody>
      </p:sp>
      <p:sp>
        <p:nvSpPr>
          <p:cNvPr id="3" name="Content Placeholder 2"/>
          <p:cNvSpPr>
            <a:spLocks noGrp="1"/>
          </p:cNvSpPr>
          <p:nvPr>
            <p:ph idx="1"/>
          </p:nvPr>
        </p:nvSpPr>
        <p:spPr/>
        <p:txBody>
          <a:bodyPr>
            <a:noAutofit/>
          </a:bodyPr>
          <a:lstStyle/>
          <a:p>
            <a:r>
              <a:rPr lang="en-US" altLang="en-US" sz="2000"/>
              <a:t>Average Birth Rate (per 1,000 population): Indicates population growth intensity.</a:t>
            </a:r>
          </a:p>
          <a:p>
            <a:endParaRPr lang="en-US" altLang="en-US" sz="2000"/>
          </a:p>
          <a:p>
            <a:r>
              <a:rPr lang="en-US" altLang="en-US" sz="2000"/>
              <a:t>Average Death Rate (per 1,000 population): Reflects overall mortality conditions.</a:t>
            </a:r>
          </a:p>
          <a:p>
            <a:endParaRPr lang="en-US" altLang="en-US" sz="2000"/>
          </a:p>
          <a:p>
            <a:r>
              <a:rPr lang="en-US" altLang="en-US" sz="2000"/>
              <a:t>Infant Mortality Rate (per 1,000 live births): Measures healthcare quality and child survival.</a:t>
            </a:r>
          </a:p>
          <a:p>
            <a:endParaRPr lang="en-US" altLang="en-US" sz="2000"/>
          </a:p>
          <a:p>
            <a:r>
              <a:rPr lang="en-US" altLang="en-US" sz="2000"/>
              <a:t>Average Population per Country: Shows the overall population scale across countries.</a:t>
            </a:r>
          </a:p>
          <a:p>
            <a:endParaRPr lang="en-US" altLang="en-US" sz="2000"/>
          </a:p>
          <a:p>
            <a:r>
              <a:rPr lang="en-US" altLang="en-US" sz="2000"/>
              <a:t>These KPIs provide a quick high-level snapshot of global demographic and health conditions.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Population Growth Trend Analysis</a:t>
            </a:r>
          </a:p>
        </p:txBody>
      </p:sp>
      <p:sp>
        <p:nvSpPr>
          <p:cNvPr id="3" name="Content Placeholder 2"/>
          <p:cNvSpPr>
            <a:spLocks noGrp="1"/>
          </p:cNvSpPr>
          <p:nvPr>
            <p:ph idx="1"/>
          </p:nvPr>
        </p:nvSpPr>
        <p:spPr/>
        <p:txBody>
          <a:bodyPr>
            <a:normAutofit lnSpcReduction="20000"/>
          </a:bodyPr>
          <a:lstStyle/>
          <a:p>
            <a:r>
              <a:rPr lang="en-US" altLang="en-US"/>
              <a:t>The line chart displays year-over-year population growth rate (%).</a:t>
            </a:r>
          </a:p>
          <a:p>
            <a:endParaRPr lang="en-US" altLang="en-US"/>
          </a:p>
          <a:p>
            <a:r>
              <a:rPr lang="en-US" altLang="en-US"/>
              <a:t>Highlights periods of accelerated and slowed growth over time.</a:t>
            </a:r>
          </a:p>
          <a:p>
            <a:endParaRPr lang="en-US" altLang="en-US"/>
          </a:p>
          <a:p>
            <a:r>
              <a:rPr lang="en-US" altLang="en-US"/>
              <a:t>Helps understand demographic transitions across decades.</a:t>
            </a:r>
          </a:p>
          <a:p>
            <a:endParaRPr lang="en-US" altLang="en-US"/>
          </a:p>
          <a:p>
            <a:r>
              <a:rPr lang="en-US" altLang="en-US"/>
              <a:t>Growth variations are influenced by changes in birth and death rates.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Population Trend Over Time</a:t>
            </a:r>
          </a:p>
        </p:txBody>
      </p:sp>
      <p:sp>
        <p:nvSpPr>
          <p:cNvPr id="3" name="Content Placeholder 2"/>
          <p:cNvSpPr>
            <a:spLocks noGrp="1"/>
          </p:cNvSpPr>
          <p:nvPr>
            <p:ph idx="1"/>
          </p:nvPr>
        </p:nvSpPr>
        <p:spPr/>
        <p:txBody>
          <a:bodyPr>
            <a:normAutofit lnSpcReduction="20000"/>
          </a:bodyPr>
          <a:lstStyle/>
          <a:p>
            <a:r>
              <a:rPr lang="en-IN" altLang="en-US"/>
              <a:t>B</a:t>
            </a:r>
            <a:r>
              <a:rPr lang="en-US" altLang="en-US"/>
              <a:t>ar chart (1960–1980) compares average population levels across years.</a:t>
            </a:r>
          </a:p>
          <a:p>
            <a:endParaRPr lang="en-US" altLang="en-US"/>
          </a:p>
          <a:p>
            <a:r>
              <a:rPr lang="en-US" altLang="en-US"/>
              <a:t>Line chart (1981–1999) shows long-term population growth trend.</a:t>
            </a:r>
          </a:p>
          <a:p>
            <a:endParaRPr lang="en-US" altLang="en-US"/>
          </a:p>
          <a:p>
            <a:r>
              <a:rPr lang="en-US" altLang="en-US"/>
              <a:t>The analysis indicates a steady and continuous increase in global population.</a:t>
            </a:r>
          </a:p>
          <a:p>
            <a:endParaRPr lang="en-US" altLang="en-US"/>
          </a:p>
          <a:p>
            <a:r>
              <a:rPr lang="en-US" altLang="en-US"/>
              <a:t>Significant acceleration is observed after the 1980s.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ym typeface="+mn-ea"/>
              </a:rPr>
              <a:t>GDP per Capita Growth Analysis</a:t>
            </a:r>
            <a:endParaRPr lang="en-US"/>
          </a:p>
        </p:txBody>
      </p:sp>
      <p:sp>
        <p:nvSpPr>
          <p:cNvPr id="3" name="Content Placeholder 2"/>
          <p:cNvSpPr>
            <a:spLocks noGrp="1"/>
          </p:cNvSpPr>
          <p:nvPr>
            <p:ph idx="1"/>
          </p:nvPr>
        </p:nvSpPr>
        <p:spPr/>
        <p:txBody>
          <a:bodyPr>
            <a:normAutofit lnSpcReduction="20000"/>
          </a:bodyPr>
          <a:lstStyle/>
          <a:p>
            <a:r>
              <a:rPr lang="en-US" altLang="en-US"/>
              <a:t>Line chart illustrates GDP per capita growth from 2000 to 2016.</a:t>
            </a:r>
          </a:p>
          <a:p>
            <a:endParaRPr lang="en-US" altLang="en-US"/>
          </a:p>
          <a:p>
            <a:r>
              <a:rPr lang="en-US" altLang="en-US"/>
              <a:t>Used to assess economic development and living standards.</a:t>
            </a:r>
          </a:p>
          <a:p>
            <a:endParaRPr lang="en-US" altLang="en-US"/>
          </a:p>
          <a:p>
            <a:r>
              <a:rPr lang="en-US" altLang="en-US"/>
              <a:t>Displays a consistent upward trend over time.</a:t>
            </a:r>
          </a:p>
          <a:p>
            <a:endParaRPr lang="en-US" altLang="en-US"/>
          </a:p>
          <a:p>
            <a:r>
              <a:rPr lang="en-US" altLang="en-US"/>
              <a:t>Reflects the impact of globalization, industrial growth, and technology.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Average GDP per Capita by Region</a:t>
            </a:r>
          </a:p>
        </p:txBody>
      </p:sp>
      <p:sp>
        <p:nvSpPr>
          <p:cNvPr id="3" name="Content Placeholder 2"/>
          <p:cNvSpPr>
            <a:spLocks noGrp="1"/>
          </p:cNvSpPr>
          <p:nvPr>
            <p:ph idx="1"/>
          </p:nvPr>
        </p:nvSpPr>
        <p:spPr/>
        <p:txBody>
          <a:bodyPr>
            <a:normAutofit lnSpcReduction="20000"/>
          </a:bodyPr>
          <a:lstStyle/>
          <a:p>
            <a:r>
              <a:rPr lang="en-US" altLang="en-US"/>
              <a:t>Column chart compares average GDP per capita across regions.</a:t>
            </a:r>
          </a:p>
          <a:p>
            <a:endParaRPr lang="en-US" altLang="en-US"/>
          </a:p>
          <a:p>
            <a:r>
              <a:rPr lang="en-US" altLang="en-US"/>
              <a:t>Regions are ranked to highlight economic disparity.</a:t>
            </a:r>
          </a:p>
          <a:p>
            <a:endParaRPr lang="en-US" altLang="en-US"/>
          </a:p>
          <a:p>
            <a:r>
              <a:rPr lang="en-US" altLang="en-US"/>
              <a:t>Developed regions show significantly higher GDP per capita.</a:t>
            </a:r>
          </a:p>
          <a:p>
            <a:endParaRPr lang="en-US" altLang="en-US"/>
          </a:p>
          <a:p>
            <a:r>
              <a:rPr lang="en-US" altLang="en-US"/>
              <a:t>Demonstrates regional inequality in income distribution.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GDP and Infant Mortality Relationship</a:t>
            </a:r>
          </a:p>
        </p:txBody>
      </p:sp>
      <p:sp>
        <p:nvSpPr>
          <p:cNvPr id="3" name="Content Placeholder 2"/>
          <p:cNvSpPr>
            <a:spLocks noGrp="1"/>
          </p:cNvSpPr>
          <p:nvPr>
            <p:ph idx="1"/>
          </p:nvPr>
        </p:nvSpPr>
        <p:spPr/>
        <p:txBody>
          <a:bodyPr>
            <a:normAutofit lnSpcReduction="20000"/>
          </a:bodyPr>
          <a:lstStyle/>
          <a:p>
            <a:r>
              <a:rPr lang="en-US" altLang="en-US"/>
              <a:t>Table compares average GDP with infant mortality rate.</a:t>
            </a:r>
          </a:p>
          <a:p>
            <a:endParaRPr lang="en-US" altLang="en-US"/>
          </a:p>
          <a:p>
            <a:r>
              <a:rPr lang="en-US" altLang="en-US"/>
              <a:t>Reveals an inverse relationship between GDP and infant mortality.</a:t>
            </a:r>
          </a:p>
          <a:p>
            <a:endParaRPr lang="en-US" altLang="en-US"/>
          </a:p>
          <a:p>
            <a:r>
              <a:rPr lang="en-US" altLang="en-US"/>
              <a:t>Higher-income regions tend to have better healthcare outcomes.</a:t>
            </a:r>
          </a:p>
          <a:p>
            <a:endParaRPr lang="en-US" altLang="en-US"/>
          </a:p>
          <a:p>
            <a:r>
              <a:rPr lang="en-US" altLang="en-US"/>
              <a:t>Highlights the socio-economic impact on health indicators.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Income Group Distribution by Region</a:t>
            </a:r>
          </a:p>
        </p:txBody>
      </p:sp>
      <p:sp>
        <p:nvSpPr>
          <p:cNvPr id="3" name="Content Placeholder 2"/>
          <p:cNvSpPr>
            <a:spLocks noGrp="1"/>
          </p:cNvSpPr>
          <p:nvPr>
            <p:ph idx="1"/>
          </p:nvPr>
        </p:nvSpPr>
        <p:spPr/>
        <p:txBody>
          <a:bodyPr>
            <a:normAutofit lnSpcReduction="20000"/>
          </a:bodyPr>
          <a:lstStyle/>
          <a:p>
            <a:r>
              <a:rPr lang="en-US" altLang="en-US"/>
              <a:t>Waterfall chart shows the distribution of income groups across regions.</a:t>
            </a:r>
          </a:p>
          <a:p>
            <a:endParaRPr lang="en-US" altLang="en-US"/>
          </a:p>
          <a:p>
            <a:r>
              <a:rPr lang="en-US" altLang="en-US"/>
              <a:t>Identifies concentration of high-income and low-income countries.</a:t>
            </a:r>
          </a:p>
          <a:p>
            <a:endParaRPr lang="en-US" altLang="en-US"/>
          </a:p>
          <a:p>
            <a:r>
              <a:rPr lang="en-US" altLang="en-US"/>
              <a:t>Developing regions have a higher share of lower-income groups.</a:t>
            </a:r>
          </a:p>
          <a:p>
            <a:endParaRPr lang="en-US" altLang="en-US"/>
          </a:p>
          <a:p>
            <a:r>
              <a:rPr lang="en-US" altLang="en-US"/>
              <a:t>Provides insights into global economic structure.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8980" y="232410"/>
            <a:ext cx="8648700" cy="1212850"/>
          </a:xfrm>
        </p:spPr>
        <p:txBody>
          <a:bodyPr/>
          <a:lstStyle/>
          <a:p>
            <a:r>
              <a:rPr lang="en-IN" dirty="0"/>
              <a:t>Key Insights</a:t>
            </a:r>
          </a:p>
        </p:txBody>
      </p:sp>
      <p:sp>
        <p:nvSpPr>
          <p:cNvPr id="3" name="Content Placeholder 2"/>
          <p:cNvSpPr>
            <a:spLocks noGrp="1"/>
          </p:cNvSpPr>
          <p:nvPr>
            <p:ph idx="1"/>
          </p:nvPr>
        </p:nvSpPr>
        <p:spPr>
          <a:xfrm>
            <a:off x="1833880" y="1444625"/>
            <a:ext cx="9846310" cy="4686300"/>
          </a:xfrm>
        </p:spPr>
        <p:txBody>
          <a:bodyPr>
            <a:normAutofit/>
          </a:bodyPr>
          <a:lstStyle/>
          <a:p>
            <a:pPr>
              <a:buFont typeface="Arial" panose="020B0604020202020204" pitchFamily="34" charset="0"/>
              <a:buChar char="•"/>
            </a:pPr>
            <a:r>
              <a:rPr lang="en-US" dirty="0"/>
              <a:t>The </a:t>
            </a:r>
            <a:r>
              <a:rPr lang="en-US" b="1" dirty="0"/>
              <a:t>top 5 most populated countries (China, India, USA, Indonesia, Brazil)</a:t>
            </a:r>
            <a:r>
              <a:rPr lang="en-US" dirty="0"/>
              <a:t> account for a major share of the </a:t>
            </a:r>
            <a:r>
              <a:rPr lang="en-US" b="1" dirty="0"/>
              <a:t>~6 billion global population</a:t>
            </a:r>
            <a:r>
              <a:rPr lang="en-US" dirty="0"/>
              <a:t>, making Asia the </a:t>
            </a:r>
            <a:r>
              <a:rPr lang="en-IN" altLang="en-US" dirty="0"/>
              <a:t>M</a:t>
            </a:r>
            <a:r>
              <a:rPr lang="en-US" dirty="0"/>
              <a:t>ost populous region.</a:t>
            </a:r>
          </a:p>
          <a:p>
            <a:pPr>
              <a:buFont typeface="Arial" panose="020B0604020202020204" pitchFamily="34" charset="0"/>
              <a:buChar char="•"/>
            </a:pPr>
            <a:r>
              <a:rPr lang="en-US" b="1" dirty="0"/>
              <a:t>Average GDP per capita is ~$9.7K</a:t>
            </a:r>
            <a:r>
              <a:rPr lang="en-US" dirty="0"/>
              <a:t>, with </a:t>
            </a:r>
            <a:r>
              <a:rPr lang="en-US" b="1" dirty="0"/>
              <a:t>Western and Northern regions exceeding $20K</a:t>
            </a:r>
            <a:r>
              <a:rPr lang="en-US" dirty="0"/>
              <a:t>, indicating strong regional income inequality.</a:t>
            </a:r>
          </a:p>
          <a:p>
            <a:pPr>
              <a:buFont typeface="Arial" panose="020B0604020202020204" pitchFamily="34" charset="0"/>
              <a:buChar char="•"/>
            </a:pPr>
            <a:r>
              <a:rPr lang="en-US" b="1" dirty="0"/>
              <a:t>Infant mortality (~13.5 per 1,000 births)</a:t>
            </a:r>
            <a:r>
              <a:rPr lang="en-US" dirty="0"/>
              <a:t> is significantly lower in high-income regions, confirming a </a:t>
            </a:r>
            <a:r>
              <a:rPr lang="en-US" b="1" dirty="0"/>
              <a:t>negative relationship between GDP and infant mortality</a:t>
            </a:r>
            <a:r>
              <a:rPr lang="en-US" dirty="0"/>
              <a:t>.</a:t>
            </a:r>
          </a:p>
          <a:p>
            <a:pPr>
              <a:buFont typeface="Arial" panose="020B0604020202020204" pitchFamily="34" charset="0"/>
              <a:buChar char="•"/>
            </a:pPr>
            <a:r>
              <a:rPr lang="en-US" dirty="0"/>
              <a:t>The </a:t>
            </a:r>
            <a:r>
              <a:rPr lang="en-US" b="1" dirty="0"/>
              <a:t>average birth rate (~13 per 1,000 people)</a:t>
            </a:r>
            <a:r>
              <a:rPr lang="en-US" dirty="0"/>
              <a:t> and </a:t>
            </a:r>
            <a:r>
              <a:rPr lang="en-US" b="1" dirty="0"/>
              <a:t>literacy rate (~52%)</a:t>
            </a:r>
            <a:r>
              <a:rPr lang="en-US" dirty="0"/>
              <a:t> reflect a global demographic transition, with disparities across regions.</a:t>
            </a:r>
          </a:p>
          <a:p>
            <a:pPr marL="0" indent="0">
              <a:buNone/>
            </a:pP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Findings</a:t>
            </a:r>
          </a:p>
        </p:txBody>
      </p:sp>
      <p:sp>
        <p:nvSpPr>
          <p:cNvPr id="3" name="Content Placeholder 2"/>
          <p:cNvSpPr>
            <a:spLocks noGrp="1"/>
          </p:cNvSpPr>
          <p:nvPr>
            <p:ph idx="1"/>
          </p:nvPr>
        </p:nvSpPr>
        <p:spPr/>
        <p:txBody>
          <a:bodyPr>
            <a:normAutofit fontScale="92500"/>
          </a:bodyPr>
          <a:lstStyle/>
          <a:p>
            <a:pPr>
              <a:buFont typeface="Arial" panose="020B0604020202020204" pitchFamily="34" charset="0"/>
              <a:buChar char="•"/>
            </a:pPr>
            <a:r>
              <a:rPr lang="en-US" dirty="0"/>
              <a:t>Global population growth is concentrated in a small number of highly populated countries.</a:t>
            </a:r>
          </a:p>
          <a:p>
            <a:pPr>
              <a:buFont typeface="Arial" panose="020B0604020202020204" pitchFamily="34" charset="0"/>
              <a:buChar char="•"/>
            </a:pPr>
            <a:r>
              <a:rPr lang="en-US" dirty="0"/>
              <a:t>Economic prosperity varies widely by region, with developed regions leading in GDP per capita.</a:t>
            </a:r>
          </a:p>
          <a:p>
            <a:pPr>
              <a:buFont typeface="Arial" panose="020B0604020202020204" pitchFamily="34" charset="0"/>
              <a:buChar char="•"/>
            </a:pPr>
            <a:r>
              <a:rPr lang="en-US" dirty="0"/>
              <a:t>Higher income levels are associated with better health outcomes and lower infant mortality.</a:t>
            </a:r>
          </a:p>
          <a:p>
            <a:pPr>
              <a:buFont typeface="Arial" panose="020B0604020202020204" pitchFamily="34" charset="0"/>
              <a:buChar char="•"/>
            </a:pPr>
            <a:r>
              <a:rPr lang="en-US" dirty="0"/>
              <a:t>Demographic indicators show declining fertility and improving literacy over time.</a:t>
            </a:r>
          </a:p>
          <a:p>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CONCLUSION</a:t>
            </a:r>
          </a:p>
        </p:txBody>
      </p:sp>
      <p:sp>
        <p:nvSpPr>
          <p:cNvPr id="3" name="Content Placeholder 2"/>
          <p:cNvSpPr>
            <a:spLocks noGrp="1"/>
          </p:cNvSpPr>
          <p:nvPr>
            <p:ph idx="1"/>
          </p:nvPr>
        </p:nvSpPr>
        <p:spPr/>
        <p:txBody>
          <a:bodyPr>
            <a:normAutofit/>
          </a:bodyPr>
          <a:lstStyle/>
          <a:p>
            <a:pPr marL="0" indent="0">
              <a:buNone/>
            </a:pPr>
            <a:r>
              <a:rPr lang="en-US" dirty="0"/>
              <a:t>The analysis highlights steady global population growth and significant improvements in economic performance over time. However, the findings reveal strong regional disparities in GDP per capita, health, and demographic indicators. Developed regions consistently show higher income levels, lower infant mortality, and declining birth rates, while developing regions continue to face challenges related to population growth and social development. Overall, the dashboard demonstrates how economic conditions strongly influence demographic and social outcomes across countries.</a:t>
            </a:r>
          </a:p>
          <a:p>
            <a:endParaRPr lang="en-IN"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173288" y="2667000"/>
            <a:ext cx="10018712" cy="3124200"/>
          </a:xfrm>
          <a:gradFill>
            <a:gsLst>
              <a:gs pos="50000">
                <a:schemeClr val="accent1"/>
              </a:gs>
              <a:gs pos="0">
                <a:schemeClr val="accent1">
                  <a:lumMod val="25000"/>
                  <a:lumOff val="75000"/>
                </a:schemeClr>
              </a:gs>
              <a:gs pos="100000">
                <a:schemeClr val="accent1">
                  <a:lumMod val="85000"/>
                </a:schemeClr>
              </a:gs>
            </a:gsLst>
            <a:lin ang="5400000" scaled="1"/>
          </a:gradFill>
        </p:spPr>
        <p:txBody>
          <a:bodyPr/>
          <a:lstStyle/>
          <a:p>
            <a:pPr marL="0" indent="0">
              <a:buNone/>
            </a:pPr>
            <a:r>
              <a:rPr lang="en-IN" altLang="en-US" sz="8000">
                <a:ln w="22225">
                  <a:solidFill>
                    <a:schemeClr val="accent2"/>
                  </a:solidFill>
                  <a:prstDash val="solid"/>
                </a:ln>
                <a:solidFill>
                  <a:schemeClr val="accent2">
                    <a:lumMod val="40000"/>
                    <a:lumOff val="60000"/>
                  </a:schemeClr>
                </a:solidFill>
                <a:effectLst/>
              </a:rPr>
              <a:t>THANKYOU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1</TotalTime>
  <Words>1087</Words>
  <Application>Microsoft Office PowerPoint</Application>
  <PresentationFormat>Widescreen</PresentationFormat>
  <Paragraphs>155</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Corbel</vt:lpstr>
      <vt:lpstr>Parallax</vt:lpstr>
      <vt:lpstr>GLOBAL ECONOMIC &amp; DEMOGRAPHIC TREND ANALYSIS  (1960–2016) Using Power BI &amp; DAX</vt:lpstr>
      <vt:lpstr>Project Objective</vt:lpstr>
      <vt:lpstr>Dataset Overview</vt:lpstr>
      <vt:lpstr>Data Cleaning &amp; Data Processing</vt:lpstr>
      <vt:lpstr>Removed Duplicates &amp; Nulls, Standardized Formatting</vt:lpstr>
      <vt:lpstr>Data Processing Steps </vt:lpstr>
      <vt:lpstr>KPI</vt:lpstr>
      <vt:lpstr>DAX CALCULATIONS</vt:lpstr>
      <vt:lpstr>DAX FORMULAS USED</vt:lpstr>
      <vt:lpstr>Statistical Analysis Applied</vt:lpstr>
      <vt:lpstr>WORLD GDP ANALYSIS DASHBOARD</vt:lpstr>
      <vt:lpstr>DASHBOARD OVERVIEW</vt:lpstr>
      <vt:lpstr>Key Performance Indicators (KPIs)</vt:lpstr>
      <vt:lpstr>Population Growth Trend Analysis</vt:lpstr>
      <vt:lpstr>Population Trend Over Time</vt:lpstr>
      <vt:lpstr>GDP per Capita Growth Analysis</vt:lpstr>
      <vt:lpstr>Average GDP per Capita by Region</vt:lpstr>
      <vt:lpstr>GDP and Infant Mortality Relationship</vt:lpstr>
      <vt:lpstr>Income Group Distribution by Region</vt:lpstr>
      <vt:lpstr>Key Insights</vt:lpstr>
      <vt:lpstr>Findings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Economic &amp; Demographic Trends Analysis – Milestone -2</dc:title>
  <dc:creator>lalitha Raj</dc:creator>
  <cp:lastModifiedBy>lalitha Raj</cp:lastModifiedBy>
  <cp:revision>22</cp:revision>
  <dcterms:created xsi:type="dcterms:W3CDTF">2026-01-13T14:11:00Z</dcterms:created>
  <dcterms:modified xsi:type="dcterms:W3CDTF">2026-01-14T17:27:49Z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5F78A8E6D6D94951AF596867BC05AEF7_12</vt:lpwstr>
  </property>
  <property fmtid="{D5CDD505-2E9C-101B-9397-08002B2CF9AE}" pid="3" name="KSOProductBuildVer">
    <vt:lpwstr>1033-12.2.0.23196</vt:lpwstr>
  </property>
</Properties>
</file>