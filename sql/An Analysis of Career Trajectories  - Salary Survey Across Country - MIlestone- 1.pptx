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7" r:id="rId5"/>
    <p:sldId id="259" r:id="rId6"/>
    <p:sldId id="276" r:id="rId7"/>
    <p:sldId id="280" r:id="rId8"/>
    <p:sldId id="268" r:id="rId9"/>
    <p:sldId id="262" r:id="rId10"/>
    <p:sldId id="277" r:id="rId11"/>
    <p:sldId id="278" r:id="rId12"/>
    <p:sldId id="270" r:id="rId13"/>
    <p:sldId id="269" r:id="rId14"/>
    <p:sldId id="261" r:id="rId15"/>
    <p:sldId id="271" r:id="rId16"/>
    <p:sldId id="264" r:id="rId17"/>
    <p:sldId id="272" r:id="rId18"/>
    <p:sldId id="273" r:id="rId19"/>
    <p:sldId id="275" r:id="rId20"/>
    <p:sldId id="279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1D7EF"/>
    <a:srgbClr val="E0D6F2"/>
    <a:srgbClr val="E7E0E8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 autoAdjust="0"/>
  </p:normalViewPr>
  <p:slideViewPr>
    <p:cSldViewPr snapToGrid="0" snapToObjects="1" showGuides="1">
      <p:cViewPr varScale="1">
        <p:scale>
          <a:sx n="80" d="100"/>
          <a:sy n="80" d="100"/>
        </p:scale>
        <p:origin x="155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Milestone1/Milestone%201%20by%20querie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queries.xlsx]ann_salry by job title!PivotTable1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</a:rPr>
              <a:t>Total Compensation by  Job title</a:t>
            </a:r>
            <a:endParaRPr lang="en-IN" b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50800" dir="5400000" algn="ctr" rotWithShape="0">
            <a:schemeClr val="bg1"/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'ann_salry by job title'!$F$6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cat>
            <c:strRef>
              <c:f>'ann_salry by job title'!$E$7:$E$17</c:f>
              <c:strCache>
                <c:ptCount val="10"/>
                <c:pt idx="0">
                  <c:v>Laboratory Technician</c:v>
                </c:pt>
                <c:pt idx="1">
                  <c:v>Data Analyst</c:v>
                </c:pt>
                <c:pt idx="2">
                  <c:v>Project Manager</c:v>
                </c:pt>
                <c:pt idx="3">
                  <c:v>Software Engineer</c:v>
                </c:pt>
                <c:pt idx="4">
                  <c:v>Program Manager</c:v>
                </c:pt>
                <c:pt idx="5">
                  <c:v>Director Of Strategic Initiatives </c:v>
                </c:pt>
                <c:pt idx="6">
                  <c:v>Equity Partner</c:v>
                </c:pt>
                <c:pt idx="7">
                  <c:v>Attorney</c:v>
                </c:pt>
                <c:pt idx="8">
                  <c:v>Editor</c:v>
                </c:pt>
                <c:pt idx="9">
                  <c:v>Accounting Manager</c:v>
                </c:pt>
              </c:strCache>
            </c:strRef>
          </c:cat>
          <c:val>
            <c:numRef>
              <c:f>'ann_salry by job title'!$F$7:$F$17</c:f>
              <c:numCache>
                <c:formatCode>General</c:formatCode>
                <c:ptCount val="10"/>
                <c:pt idx="0">
                  <c:v>1303000</c:v>
                </c:pt>
                <c:pt idx="1">
                  <c:v>947000</c:v>
                </c:pt>
                <c:pt idx="2">
                  <c:v>864825</c:v>
                </c:pt>
                <c:pt idx="3">
                  <c:v>738000</c:v>
                </c:pt>
                <c:pt idx="4">
                  <c:v>718000</c:v>
                </c:pt>
                <c:pt idx="5">
                  <c:v>700000</c:v>
                </c:pt>
                <c:pt idx="6">
                  <c:v>600000</c:v>
                </c:pt>
                <c:pt idx="7">
                  <c:v>571000</c:v>
                </c:pt>
                <c:pt idx="8">
                  <c:v>557167</c:v>
                </c:pt>
                <c:pt idx="9">
                  <c:v>510360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23-40FC-9961-ED1A61B97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398416"/>
        <c:axId val="1462405072"/>
      </c:lineChart>
      <c:catAx>
        <c:axId val="146239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405072"/>
        <c:crosses val="autoZero"/>
        <c:auto val="1"/>
        <c:lblAlgn val="ctr"/>
        <c:lblOffset val="100"/>
        <c:noMultiLvlLbl val="0"/>
      </c:catAx>
      <c:valAx>
        <c:axId val="14624050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398416"/>
        <c:crosses val="autoZero"/>
        <c:crossBetween val="between"/>
      </c:valAx>
      <c:spPr>
        <a:gradFill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l="100000" t="100000"/>
          </a:path>
        </a:gradFill>
        <a:ln>
          <a:solidFill>
            <a:srgbClr val="002060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cfd52f-5012-4d10-88e7-8167866c4d1d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queries.xlsx]Pivot Table Industry &amp; Sal!PivotTable1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200" dirty="0"/>
              <a:t>Total </a:t>
            </a:r>
            <a:r>
              <a:rPr lang="en-IN" sz="1200" dirty="0" err="1"/>
              <a:t>Avg</a:t>
            </a:r>
            <a:r>
              <a:rPr lang="en-IN" sz="1200" dirty="0"/>
              <a:t> </a:t>
            </a:r>
            <a:r>
              <a:rPr lang="en-IN" sz="1200" dirty="0" err="1"/>
              <a:t>sal</a:t>
            </a:r>
            <a:r>
              <a:rPr lang="en-IN" sz="1200" dirty="0"/>
              <a:t> by Ind &amp; Gender</a:t>
            </a:r>
          </a:p>
        </c:rich>
      </c:tx>
      <c:layout>
        <c:manualLayout>
          <c:xMode val="edge"/>
          <c:yMode val="edge"/>
          <c:x val="0.15495294414729699"/>
          <c:y val="9.969563259642849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610729214403801"/>
          <c:y val="0.40576851874706898"/>
          <c:w val="0.62240073403080898"/>
          <c:h val="0.441621208007305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'Pivot Table Industry &amp; Sal'!$B$3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rgbClr val="7030A0"/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'Pivot Table Industry &amp; Sal'!$A$4:$A$14</c:f>
              <c:strCache>
                <c:ptCount val="10"/>
                <c:pt idx="0">
                  <c:v>Business or Consulting</c:v>
                </c:pt>
                <c:pt idx="1">
                  <c:v>Computing or Tech</c:v>
                </c:pt>
                <c:pt idx="2">
                  <c:v>Engineering or Manufacturing</c:v>
                </c:pt>
                <c:pt idx="3">
                  <c:v>Government and Public Administration</c:v>
                </c:pt>
                <c:pt idx="4">
                  <c:v>Health care</c:v>
                </c:pt>
                <c:pt idx="5">
                  <c:v>Law</c:v>
                </c:pt>
                <c:pt idx="6">
                  <c:v>Marketing, Advertising &amp; PR</c:v>
                </c:pt>
                <c:pt idx="7">
                  <c:v>Property or Construction</c:v>
                </c:pt>
                <c:pt idx="8">
                  <c:v>Recruitment or HR</c:v>
                </c:pt>
                <c:pt idx="9">
                  <c:v>Utilities &amp; Telecommunications</c:v>
                </c:pt>
              </c:strCache>
            </c:strRef>
          </c:cat>
          <c:val>
            <c:numRef>
              <c:f>'Pivot Table Industry &amp; Sal'!$B$4:$B$14</c:f>
              <c:numCache>
                <c:formatCode>General</c:formatCode>
                <c:ptCount val="10"/>
                <c:pt idx="0">
                  <c:v>197575</c:v>
                </c:pt>
                <c:pt idx="1">
                  <c:v>244486.45</c:v>
                </c:pt>
                <c:pt idx="2">
                  <c:v>180472.76</c:v>
                </c:pt>
                <c:pt idx="3">
                  <c:v>174693.09</c:v>
                </c:pt>
                <c:pt idx="4">
                  <c:v>176990.4</c:v>
                </c:pt>
                <c:pt idx="5">
                  <c:v>197039.9</c:v>
                </c:pt>
                <c:pt idx="6">
                  <c:v>188098.06</c:v>
                </c:pt>
                <c:pt idx="7">
                  <c:v>215058.33</c:v>
                </c:pt>
                <c:pt idx="8">
                  <c:v>189446.15</c:v>
                </c:pt>
                <c:pt idx="9">
                  <c:v>179402.5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3-477D-A0E5-96824DAD4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6715536"/>
        <c:axId val="1436715952"/>
      </c:barChart>
      <c:catAx>
        <c:axId val="1436715536"/>
        <c:scaling>
          <c:orientation val="minMax"/>
        </c:scaling>
        <c:delete val="0"/>
        <c:axPos val="b"/>
        <c:numFmt formatCode="#,##0_);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6715952"/>
        <c:crosses val="autoZero"/>
        <c:auto val="0"/>
        <c:lblAlgn val="ctr"/>
        <c:lblOffset val="100"/>
        <c:noMultiLvlLbl val="0"/>
      </c:catAx>
      <c:valAx>
        <c:axId val="143671595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rgbClr val="00206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6715536"/>
        <c:crosses val="autoZero"/>
        <c:crossBetween val="between"/>
      </c:valAx>
      <c:spPr>
        <a:gradFill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548a949-ebc8-4d06-b27c-66c0f61139f7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queries.xlsx]ann_salry by job title!PivotTable1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200" b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</a:rPr>
              <a:t>Total </a:t>
            </a:r>
            <a:r>
              <a:rPr lang="en-IN" sz="1200" b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Compensation</a:t>
            </a:r>
            <a:r>
              <a:rPr lang="en-IN" sz="1200" b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</a:rPr>
              <a:t> by  Job title</a:t>
            </a:r>
            <a:endParaRPr lang="en-IN" sz="1200" b="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c:rich>
      </c:tx>
      <c:layout>
        <c:manualLayout>
          <c:xMode val="edge"/>
          <c:yMode val="edge"/>
          <c:x val="0.16015133402707901"/>
          <c:y val="7.012914836414700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50800" dir="5400000" algn="ctr" rotWithShape="0">
            <a:schemeClr val="bg1"/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849970366607399"/>
          <c:y val="0.28527017456151299"/>
          <c:w val="0.70268605537211104"/>
          <c:h val="0.38369412156813698"/>
        </c:manualLayout>
      </c:layout>
      <c:lineChart>
        <c:grouping val="standard"/>
        <c:varyColors val="0"/>
        <c:ser>
          <c:idx val="0"/>
          <c:order val="0"/>
          <c:tx>
            <c:strRef>
              <c:f>'ann_salry by job title'!$F$6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cat>
            <c:strRef>
              <c:f>'ann_salry by job title'!$E$7:$E$17</c:f>
              <c:strCache>
                <c:ptCount val="10"/>
                <c:pt idx="0">
                  <c:v>Laboratory Technician</c:v>
                </c:pt>
                <c:pt idx="1">
                  <c:v>Data Analyst</c:v>
                </c:pt>
                <c:pt idx="2">
                  <c:v>Project Manager</c:v>
                </c:pt>
                <c:pt idx="3">
                  <c:v>Software Engineer</c:v>
                </c:pt>
                <c:pt idx="4">
                  <c:v>Program Manager</c:v>
                </c:pt>
                <c:pt idx="5">
                  <c:v>Director Of Strategic Initiatives </c:v>
                </c:pt>
                <c:pt idx="6">
                  <c:v>Equity Partner</c:v>
                </c:pt>
                <c:pt idx="7">
                  <c:v>Attorney</c:v>
                </c:pt>
                <c:pt idx="8">
                  <c:v>Editor</c:v>
                </c:pt>
                <c:pt idx="9">
                  <c:v>Accounting Manager</c:v>
                </c:pt>
              </c:strCache>
            </c:strRef>
          </c:cat>
          <c:val>
            <c:numRef>
              <c:f>'ann_salry by job title'!$F$7:$F$17</c:f>
              <c:numCache>
                <c:formatCode>General</c:formatCode>
                <c:ptCount val="10"/>
                <c:pt idx="0">
                  <c:v>1303000</c:v>
                </c:pt>
                <c:pt idx="1">
                  <c:v>947000</c:v>
                </c:pt>
                <c:pt idx="2">
                  <c:v>864825</c:v>
                </c:pt>
                <c:pt idx="3">
                  <c:v>738000</c:v>
                </c:pt>
                <c:pt idx="4">
                  <c:v>718000</c:v>
                </c:pt>
                <c:pt idx="5">
                  <c:v>700000</c:v>
                </c:pt>
                <c:pt idx="6">
                  <c:v>600000</c:v>
                </c:pt>
                <c:pt idx="7">
                  <c:v>571000</c:v>
                </c:pt>
                <c:pt idx="8">
                  <c:v>557167</c:v>
                </c:pt>
                <c:pt idx="9">
                  <c:v>510360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79-4DB1-AC47-3AA938BFE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398416"/>
        <c:axId val="1462405072"/>
      </c:lineChart>
      <c:catAx>
        <c:axId val="146239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405072"/>
        <c:crosses val="autoZero"/>
        <c:auto val="1"/>
        <c:lblAlgn val="ctr"/>
        <c:lblOffset val="100"/>
        <c:noMultiLvlLbl val="0"/>
      </c:catAx>
      <c:valAx>
        <c:axId val="14624050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398416"/>
        <c:crosses val="autoZero"/>
        <c:crossBetween val="between"/>
      </c:valAx>
      <c:spPr>
        <a:gradFill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l="100000" t="100000"/>
          </a:path>
        </a:gradFill>
        <a:ln>
          <a:solidFill>
            <a:srgbClr val="002060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f3fdd6-e0b3-4103-a5ea-5c5e62c3ea50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queries.xlsx]Ind&amp; gen,education by salary!PivotTable6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200" b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</a:rPr>
              <a:t>Salary by  </a:t>
            </a:r>
            <a:r>
              <a:rPr lang="en-IN" sz="1200" b="0" baseline="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</a:rPr>
              <a:t>Ind&amp;Gender</a:t>
            </a:r>
            <a:endParaRPr lang="en-IN" sz="1200" b="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c:rich>
      </c:tx>
      <c:layout>
        <c:manualLayout>
          <c:xMode val="edge"/>
          <c:yMode val="edge"/>
          <c:x val="0.120649460207171"/>
          <c:y val="9.6250969900978103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50800" dir="5400000" algn="ctr" rotWithShape="0">
            <a:schemeClr val="bg1"/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849970366607399"/>
          <c:y val="0.28527017456151299"/>
          <c:w val="0.70268605537211104"/>
          <c:h val="0.38369412156813698"/>
        </c:manualLayout>
      </c:layout>
      <c:lineChart>
        <c:grouping val="stacked"/>
        <c:varyColors val="0"/>
        <c:ser>
          <c:idx val="0"/>
          <c:order val="0"/>
          <c:tx>
            <c:strRef>
              <c:f>'Ind&amp; gen,education by salary'!$F$1:$F$2</c:f>
              <c:strCache>
                <c:ptCount val="1"/>
                <c:pt idx="0">
                  <c:v>Man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cat>
            <c:strRef>
              <c:f>'Ind&amp; gen,education by salary'!$E$3:$E$82</c:f>
              <c:strCache>
                <c:ptCount val="79"/>
                <c:pt idx="0">
                  <c:v>Academic Medicine </c:v>
                </c:pt>
                <c:pt idx="1">
                  <c:v>Academic research (Psychology)</c:v>
                </c:pt>
                <c:pt idx="2">
                  <c:v>Accounting, Banking &amp; Finance</c:v>
                </c:pt>
                <c:pt idx="3">
                  <c:v>Aerospace</c:v>
                </c:pt>
                <c:pt idx="4">
                  <c:v>Aerospace contracting</c:v>
                </c:pt>
                <c:pt idx="5">
                  <c:v>Agriculture or Forestry</c:v>
                </c:pt>
                <c:pt idx="6">
                  <c:v>Animal Health Product Manufacturing</c:v>
                </c:pt>
                <c:pt idx="7">
                  <c:v>Archaeology / Cultural Resource Management</c:v>
                </c:pt>
                <c:pt idx="8">
                  <c:v>Architecture</c:v>
                </c:pt>
                <c:pt idx="9">
                  <c:v>Art &amp; Design</c:v>
                </c:pt>
                <c:pt idx="10">
                  <c:v>B2B Services </c:v>
                </c:pt>
                <c:pt idx="11">
                  <c:v>Biopharma</c:v>
                </c:pt>
                <c:pt idx="12">
                  <c:v>Biotech</c:v>
                </c:pt>
                <c:pt idx="13">
                  <c:v>Biotechnology</c:v>
                </c:pt>
                <c:pt idx="14">
                  <c:v>Business or Consulting</c:v>
                </c:pt>
                <c:pt idx="15">
                  <c:v>Business Services</c:v>
                </c:pt>
                <c:pt idx="16">
                  <c:v>Commercial Real Estate </c:v>
                </c:pt>
                <c:pt idx="17">
                  <c:v>Computing or Tech</c:v>
                </c:pt>
                <c:pt idx="18">
                  <c:v>Consulting</c:v>
                </c:pt>
                <c:pt idx="19">
                  <c:v>Consumer packaged goods</c:v>
                </c:pt>
                <c:pt idx="20">
                  <c:v>Education (Higher Education)</c:v>
                </c:pt>
                <c:pt idx="21">
                  <c:v>Education (Primary/Secondary)</c:v>
                </c:pt>
                <c:pt idx="22">
                  <c:v>Educational Technology - hybrid between book publishing and technology really</c:v>
                </c:pt>
                <c:pt idx="23">
                  <c:v>Energy</c:v>
                </c:pt>
                <c:pt idx="24">
                  <c:v>Engineering or Manufacturing</c:v>
                </c:pt>
                <c:pt idx="25">
                  <c:v>Entertainment</c:v>
                </c:pt>
                <c:pt idx="26">
                  <c:v>Environmental Consulting</c:v>
                </c:pt>
                <c:pt idx="27">
                  <c:v>Environmental regulation</c:v>
                </c:pt>
                <c:pt idx="28">
                  <c:v>Food manufacturing</c:v>
                </c:pt>
                <c:pt idx="29">
                  <c:v>Food Production/Processing</c:v>
                </c:pt>
                <c:pt idx="30">
                  <c:v>Government and Public Administration</c:v>
                </c:pt>
                <c:pt idx="31">
                  <c:v>Government contractor</c:v>
                </c:pt>
                <c:pt idx="32">
                  <c:v>Government Relations (Lobbying) </c:v>
                </c:pt>
                <c:pt idx="33">
                  <c:v>Health care</c:v>
                </c:pt>
                <c:pt idx="34">
                  <c:v>Health Insurance </c:v>
                </c:pt>
                <c:pt idx="35">
                  <c:v>Heritage/Public History</c:v>
                </c:pt>
                <c:pt idx="36">
                  <c:v>Hospitality &amp; Events</c:v>
                </c:pt>
                <c:pt idx="37">
                  <c:v>Insurance</c:v>
                </c:pt>
                <c:pt idx="38">
                  <c:v>Law</c:v>
                </c:pt>
                <c:pt idx="39">
                  <c:v>Law Enforcement &amp; Security</c:v>
                </c:pt>
                <c:pt idx="40">
                  <c:v>Leisure, Sport &amp; Tourism</c:v>
                </c:pt>
                <c:pt idx="41">
                  <c:v>Librarian </c:v>
                </c:pt>
                <c:pt idx="42">
                  <c:v>Libraries</c:v>
                </c:pt>
                <c:pt idx="43">
                  <c:v>Manufacturing</c:v>
                </c:pt>
                <c:pt idx="44">
                  <c:v>Manufacturing </c:v>
                </c:pt>
                <c:pt idx="45">
                  <c:v>Manufacturing and distributing</c:v>
                </c:pt>
                <c:pt idx="46">
                  <c:v>Marketing, Advertising &amp; PR</c:v>
                </c:pt>
                <c:pt idx="47">
                  <c:v>Media &amp; Digital</c:v>
                </c:pt>
                <c:pt idx="48">
                  <c:v>Medical Devices</c:v>
                </c:pt>
                <c:pt idx="49">
                  <c:v>Museum</c:v>
                </c:pt>
                <c:pt idx="50">
                  <c:v>Nonprofits</c:v>
                </c:pt>
                <c:pt idx="51">
                  <c:v>Oil and Gas</c:v>
                </c:pt>
                <c:pt idx="52">
                  <c:v>Pet care industry (dog training/walking)</c:v>
                </c:pt>
                <c:pt idx="53">
                  <c:v>Pharmaceuticals</c:v>
                </c:pt>
                <c:pt idx="54">
                  <c:v>PhD</c:v>
                </c:pt>
                <c:pt idx="55">
                  <c:v>Philanthropy</c:v>
                </c:pt>
                <c:pt idx="56">
                  <c:v>Politics</c:v>
                </c:pt>
                <c:pt idx="57">
                  <c:v>Property or Construction</c:v>
                </c:pt>
                <c:pt idx="58">
                  <c:v>Public health </c:v>
                </c:pt>
                <c:pt idx="59">
                  <c:v>Public health in higher education</c:v>
                </c:pt>
                <c:pt idx="60">
                  <c:v>public library</c:v>
                </c:pt>
                <c:pt idx="61">
                  <c:v>Public Library (technically City Govt.?) </c:v>
                </c:pt>
                <c:pt idx="62">
                  <c:v>Publishing</c:v>
                </c:pt>
                <c:pt idx="63">
                  <c:v>Real Estate</c:v>
                </c:pt>
                <c:pt idx="64">
                  <c:v>Recruitment or HR</c:v>
                </c:pt>
                <c:pt idx="65">
                  <c:v>Renewable energy</c:v>
                </c:pt>
                <c:pt idx="66">
                  <c:v>Research and development</c:v>
                </c:pt>
                <c:pt idx="67">
                  <c:v>Retail</c:v>
                </c:pt>
                <c:pt idx="68">
                  <c:v>Sales</c:v>
                </c:pt>
                <c:pt idx="69">
                  <c:v>Social Work</c:v>
                </c:pt>
                <c:pt idx="70">
                  <c:v>Software as a Service SaaS</c:v>
                </c:pt>
                <c:pt idx="71">
                  <c:v>Space</c:v>
                </c:pt>
                <c:pt idx="72">
                  <c:v>STEM research</c:v>
                </c:pt>
                <c:pt idx="73">
                  <c:v>Surveying </c:v>
                </c:pt>
                <c:pt idx="74">
                  <c:v>Transport or Logistics</c:v>
                </c:pt>
                <c:pt idx="75">
                  <c:v>University administration</c:v>
                </c:pt>
                <c:pt idx="76">
                  <c:v>Unknown</c:v>
                </c:pt>
                <c:pt idx="77">
                  <c:v>Utilities &amp; Telecommunications</c:v>
                </c:pt>
                <c:pt idx="78">
                  <c:v>Veterinary medicine</c:v>
                </c:pt>
              </c:strCache>
            </c:strRef>
          </c:cat>
          <c:val>
            <c:numRef>
              <c:f>'Ind&amp; gen,education by salary'!$F$3:$F$82</c:f>
              <c:numCache>
                <c:formatCode>General</c:formatCode>
                <c:ptCount val="79"/>
                <c:pt idx="0">
                  <c:v>55000</c:v>
                </c:pt>
                <c:pt idx="2">
                  <c:v>133350</c:v>
                </c:pt>
                <c:pt idx="11">
                  <c:v>114000</c:v>
                </c:pt>
                <c:pt idx="14">
                  <c:v>187500</c:v>
                </c:pt>
                <c:pt idx="17">
                  <c:v>460816.63</c:v>
                </c:pt>
                <c:pt idx="19">
                  <c:v>90000</c:v>
                </c:pt>
                <c:pt idx="20">
                  <c:v>164750</c:v>
                </c:pt>
                <c:pt idx="21">
                  <c:v>142000</c:v>
                </c:pt>
                <c:pt idx="24">
                  <c:v>269926.88</c:v>
                </c:pt>
                <c:pt idx="25">
                  <c:v>190000</c:v>
                </c:pt>
                <c:pt idx="30">
                  <c:v>522266.67</c:v>
                </c:pt>
                <c:pt idx="33">
                  <c:v>206000</c:v>
                </c:pt>
                <c:pt idx="38">
                  <c:v>90000</c:v>
                </c:pt>
                <c:pt idx="44">
                  <c:v>66250</c:v>
                </c:pt>
                <c:pt idx="46">
                  <c:v>182000</c:v>
                </c:pt>
                <c:pt idx="47">
                  <c:v>66050</c:v>
                </c:pt>
                <c:pt idx="49">
                  <c:v>52000</c:v>
                </c:pt>
                <c:pt idx="50">
                  <c:v>200166.67</c:v>
                </c:pt>
                <c:pt idx="51">
                  <c:v>120000</c:v>
                </c:pt>
                <c:pt idx="54">
                  <c:v>19000</c:v>
                </c:pt>
                <c:pt idx="57">
                  <c:v>150000</c:v>
                </c:pt>
                <c:pt idx="64">
                  <c:v>115000</c:v>
                </c:pt>
                <c:pt idx="68">
                  <c:v>55000</c:v>
                </c:pt>
                <c:pt idx="73">
                  <c:v>85000</c:v>
                </c:pt>
                <c:pt idx="77">
                  <c:v>194000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CA-4929-9225-F6CA3B4165E6}"/>
            </c:ext>
          </c:extLst>
        </c:ser>
        <c:ser>
          <c:idx val="1"/>
          <c:order val="1"/>
          <c:tx>
            <c:strRef>
              <c:f>'Ind&amp; gen,education by salary'!$G$1:$G$2</c:f>
              <c:strCache>
                <c:ptCount val="1"/>
                <c:pt idx="0">
                  <c:v>Non-binary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'Ind&amp; gen,education by salary'!$E$3:$E$82</c:f>
              <c:strCache>
                <c:ptCount val="79"/>
                <c:pt idx="0">
                  <c:v>Academic Medicine </c:v>
                </c:pt>
                <c:pt idx="1">
                  <c:v>Academic research (Psychology)</c:v>
                </c:pt>
                <c:pt idx="2">
                  <c:v>Accounting, Banking &amp; Finance</c:v>
                </c:pt>
                <c:pt idx="3">
                  <c:v>Aerospace</c:v>
                </c:pt>
                <c:pt idx="4">
                  <c:v>Aerospace contracting</c:v>
                </c:pt>
                <c:pt idx="5">
                  <c:v>Agriculture or Forestry</c:v>
                </c:pt>
                <c:pt idx="6">
                  <c:v>Animal Health Product Manufacturing</c:v>
                </c:pt>
                <c:pt idx="7">
                  <c:v>Archaeology / Cultural Resource Management</c:v>
                </c:pt>
                <c:pt idx="8">
                  <c:v>Architecture</c:v>
                </c:pt>
                <c:pt idx="9">
                  <c:v>Art &amp; Design</c:v>
                </c:pt>
                <c:pt idx="10">
                  <c:v>B2B Services </c:v>
                </c:pt>
                <c:pt idx="11">
                  <c:v>Biopharma</c:v>
                </c:pt>
                <c:pt idx="12">
                  <c:v>Biotech</c:v>
                </c:pt>
                <c:pt idx="13">
                  <c:v>Biotechnology</c:v>
                </c:pt>
                <c:pt idx="14">
                  <c:v>Business or Consulting</c:v>
                </c:pt>
                <c:pt idx="15">
                  <c:v>Business Services</c:v>
                </c:pt>
                <c:pt idx="16">
                  <c:v>Commercial Real Estate </c:v>
                </c:pt>
                <c:pt idx="17">
                  <c:v>Computing or Tech</c:v>
                </c:pt>
                <c:pt idx="18">
                  <c:v>Consulting</c:v>
                </c:pt>
                <c:pt idx="19">
                  <c:v>Consumer packaged goods</c:v>
                </c:pt>
                <c:pt idx="20">
                  <c:v>Education (Higher Education)</c:v>
                </c:pt>
                <c:pt idx="21">
                  <c:v>Education (Primary/Secondary)</c:v>
                </c:pt>
                <c:pt idx="22">
                  <c:v>Educational Technology - hybrid between book publishing and technology really</c:v>
                </c:pt>
                <c:pt idx="23">
                  <c:v>Energy</c:v>
                </c:pt>
                <c:pt idx="24">
                  <c:v>Engineering or Manufacturing</c:v>
                </c:pt>
                <c:pt idx="25">
                  <c:v>Entertainment</c:v>
                </c:pt>
                <c:pt idx="26">
                  <c:v>Environmental Consulting</c:v>
                </c:pt>
                <c:pt idx="27">
                  <c:v>Environmental regulation</c:v>
                </c:pt>
                <c:pt idx="28">
                  <c:v>Food manufacturing</c:v>
                </c:pt>
                <c:pt idx="29">
                  <c:v>Food Production/Processing</c:v>
                </c:pt>
                <c:pt idx="30">
                  <c:v>Government and Public Administration</c:v>
                </c:pt>
                <c:pt idx="31">
                  <c:v>Government contractor</c:v>
                </c:pt>
                <c:pt idx="32">
                  <c:v>Government Relations (Lobbying) </c:v>
                </c:pt>
                <c:pt idx="33">
                  <c:v>Health care</c:v>
                </c:pt>
                <c:pt idx="34">
                  <c:v>Health Insurance </c:v>
                </c:pt>
                <c:pt idx="35">
                  <c:v>Heritage/Public History</c:v>
                </c:pt>
                <c:pt idx="36">
                  <c:v>Hospitality &amp; Events</c:v>
                </c:pt>
                <c:pt idx="37">
                  <c:v>Insurance</c:v>
                </c:pt>
                <c:pt idx="38">
                  <c:v>Law</c:v>
                </c:pt>
                <c:pt idx="39">
                  <c:v>Law Enforcement &amp; Security</c:v>
                </c:pt>
                <c:pt idx="40">
                  <c:v>Leisure, Sport &amp; Tourism</c:v>
                </c:pt>
                <c:pt idx="41">
                  <c:v>Librarian </c:v>
                </c:pt>
                <c:pt idx="42">
                  <c:v>Libraries</c:v>
                </c:pt>
                <c:pt idx="43">
                  <c:v>Manufacturing</c:v>
                </c:pt>
                <c:pt idx="44">
                  <c:v>Manufacturing </c:v>
                </c:pt>
                <c:pt idx="45">
                  <c:v>Manufacturing and distributing</c:v>
                </c:pt>
                <c:pt idx="46">
                  <c:v>Marketing, Advertising &amp; PR</c:v>
                </c:pt>
                <c:pt idx="47">
                  <c:v>Media &amp; Digital</c:v>
                </c:pt>
                <c:pt idx="48">
                  <c:v>Medical Devices</c:v>
                </c:pt>
                <c:pt idx="49">
                  <c:v>Museum</c:v>
                </c:pt>
                <c:pt idx="50">
                  <c:v>Nonprofits</c:v>
                </c:pt>
                <c:pt idx="51">
                  <c:v>Oil and Gas</c:v>
                </c:pt>
                <c:pt idx="52">
                  <c:v>Pet care industry (dog training/walking)</c:v>
                </c:pt>
                <c:pt idx="53">
                  <c:v>Pharmaceuticals</c:v>
                </c:pt>
                <c:pt idx="54">
                  <c:v>PhD</c:v>
                </c:pt>
                <c:pt idx="55">
                  <c:v>Philanthropy</c:v>
                </c:pt>
                <c:pt idx="56">
                  <c:v>Politics</c:v>
                </c:pt>
                <c:pt idx="57">
                  <c:v>Property or Construction</c:v>
                </c:pt>
                <c:pt idx="58">
                  <c:v>Public health </c:v>
                </c:pt>
                <c:pt idx="59">
                  <c:v>Public health in higher education</c:v>
                </c:pt>
                <c:pt idx="60">
                  <c:v>public library</c:v>
                </c:pt>
                <c:pt idx="61">
                  <c:v>Public Library (technically City Govt.?) </c:v>
                </c:pt>
                <c:pt idx="62">
                  <c:v>Publishing</c:v>
                </c:pt>
                <c:pt idx="63">
                  <c:v>Real Estate</c:v>
                </c:pt>
                <c:pt idx="64">
                  <c:v>Recruitment or HR</c:v>
                </c:pt>
                <c:pt idx="65">
                  <c:v>Renewable energy</c:v>
                </c:pt>
                <c:pt idx="66">
                  <c:v>Research and development</c:v>
                </c:pt>
                <c:pt idx="67">
                  <c:v>Retail</c:v>
                </c:pt>
                <c:pt idx="68">
                  <c:v>Sales</c:v>
                </c:pt>
                <c:pt idx="69">
                  <c:v>Social Work</c:v>
                </c:pt>
                <c:pt idx="70">
                  <c:v>Software as a Service SaaS</c:v>
                </c:pt>
                <c:pt idx="71">
                  <c:v>Space</c:v>
                </c:pt>
                <c:pt idx="72">
                  <c:v>STEM research</c:v>
                </c:pt>
                <c:pt idx="73">
                  <c:v>Surveying </c:v>
                </c:pt>
                <c:pt idx="74">
                  <c:v>Transport or Logistics</c:v>
                </c:pt>
                <c:pt idx="75">
                  <c:v>University administration</c:v>
                </c:pt>
                <c:pt idx="76">
                  <c:v>Unknown</c:v>
                </c:pt>
                <c:pt idx="77">
                  <c:v>Utilities &amp; Telecommunications</c:v>
                </c:pt>
                <c:pt idx="78">
                  <c:v>Veterinary medicine</c:v>
                </c:pt>
              </c:strCache>
            </c:strRef>
          </c:cat>
          <c:val>
            <c:numRef>
              <c:f>'Ind&amp; gen,education by salary'!$G$3:$G$82</c:f>
              <c:numCache>
                <c:formatCode>General</c:formatCode>
                <c:ptCount val="79"/>
                <c:pt idx="2">
                  <c:v>33800</c:v>
                </c:pt>
                <c:pt idx="5">
                  <c:v>17000</c:v>
                </c:pt>
                <c:pt idx="17">
                  <c:v>394600</c:v>
                </c:pt>
                <c:pt idx="20">
                  <c:v>144655.4</c:v>
                </c:pt>
                <c:pt idx="21">
                  <c:v>71000</c:v>
                </c:pt>
                <c:pt idx="30">
                  <c:v>31616</c:v>
                </c:pt>
                <c:pt idx="33">
                  <c:v>165000</c:v>
                </c:pt>
                <c:pt idx="36">
                  <c:v>33280</c:v>
                </c:pt>
                <c:pt idx="38">
                  <c:v>74000</c:v>
                </c:pt>
                <c:pt idx="47">
                  <c:v>36000</c:v>
                </c:pt>
                <c:pt idx="50">
                  <c:v>131695</c:v>
                </c:pt>
                <c:pt idx="64">
                  <c:v>40000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CA-4929-9225-F6CA3B4165E6}"/>
            </c:ext>
          </c:extLst>
        </c:ser>
        <c:ser>
          <c:idx val="2"/>
          <c:order val="2"/>
          <c:tx>
            <c:strRef>
              <c:f>'Ind&amp; gen,education by salary'!$H$1:$H$2</c:f>
              <c:strCache>
                <c:ptCount val="1"/>
                <c:pt idx="0">
                  <c:v>Other or prefer not to answer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'Ind&amp; gen,education by salary'!$E$3:$E$82</c:f>
              <c:strCache>
                <c:ptCount val="79"/>
                <c:pt idx="0">
                  <c:v>Academic Medicine </c:v>
                </c:pt>
                <c:pt idx="1">
                  <c:v>Academic research (Psychology)</c:v>
                </c:pt>
                <c:pt idx="2">
                  <c:v>Accounting, Banking &amp; Finance</c:v>
                </c:pt>
                <c:pt idx="3">
                  <c:v>Aerospace</c:v>
                </c:pt>
                <c:pt idx="4">
                  <c:v>Aerospace contracting</c:v>
                </c:pt>
                <c:pt idx="5">
                  <c:v>Agriculture or Forestry</c:v>
                </c:pt>
                <c:pt idx="6">
                  <c:v>Animal Health Product Manufacturing</c:v>
                </c:pt>
                <c:pt idx="7">
                  <c:v>Archaeology / Cultural Resource Management</c:v>
                </c:pt>
                <c:pt idx="8">
                  <c:v>Architecture</c:v>
                </c:pt>
                <c:pt idx="9">
                  <c:v>Art &amp; Design</c:v>
                </c:pt>
                <c:pt idx="10">
                  <c:v>B2B Services </c:v>
                </c:pt>
                <c:pt idx="11">
                  <c:v>Biopharma</c:v>
                </c:pt>
                <c:pt idx="12">
                  <c:v>Biotech</c:v>
                </c:pt>
                <c:pt idx="13">
                  <c:v>Biotechnology</c:v>
                </c:pt>
                <c:pt idx="14">
                  <c:v>Business or Consulting</c:v>
                </c:pt>
                <c:pt idx="15">
                  <c:v>Business Services</c:v>
                </c:pt>
                <c:pt idx="16">
                  <c:v>Commercial Real Estate </c:v>
                </c:pt>
                <c:pt idx="17">
                  <c:v>Computing or Tech</c:v>
                </c:pt>
                <c:pt idx="18">
                  <c:v>Consulting</c:v>
                </c:pt>
                <c:pt idx="19">
                  <c:v>Consumer packaged goods</c:v>
                </c:pt>
                <c:pt idx="20">
                  <c:v>Education (Higher Education)</c:v>
                </c:pt>
                <c:pt idx="21">
                  <c:v>Education (Primary/Secondary)</c:v>
                </c:pt>
                <c:pt idx="22">
                  <c:v>Educational Technology - hybrid between book publishing and technology really</c:v>
                </c:pt>
                <c:pt idx="23">
                  <c:v>Energy</c:v>
                </c:pt>
                <c:pt idx="24">
                  <c:v>Engineering or Manufacturing</c:v>
                </c:pt>
                <c:pt idx="25">
                  <c:v>Entertainment</c:v>
                </c:pt>
                <c:pt idx="26">
                  <c:v>Environmental Consulting</c:v>
                </c:pt>
                <c:pt idx="27">
                  <c:v>Environmental regulation</c:v>
                </c:pt>
                <c:pt idx="28">
                  <c:v>Food manufacturing</c:v>
                </c:pt>
                <c:pt idx="29">
                  <c:v>Food Production/Processing</c:v>
                </c:pt>
                <c:pt idx="30">
                  <c:v>Government and Public Administration</c:v>
                </c:pt>
                <c:pt idx="31">
                  <c:v>Government contractor</c:v>
                </c:pt>
                <c:pt idx="32">
                  <c:v>Government Relations (Lobbying) </c:v>
                </c:pt>
                <c:pt idx="33">
                  <c:v>Health care</c:v>
                </c:pt>
                <c:pt idx="34">
                  <c:v>Health Insurance </c:v>
                </c:pt>
                <c:pt idx="35">
                  <c:v>Heritage/Public History</c:v>
                </c:pt>
                <c:pt idx="36">
                  <c:v>Hospitality &amp; Events</c:v>
                </c:pt>
                <c:pt idx="37">
                  <c:v>Insurance</c:v>
                </c:pt>
                <c:pt idx="38">
                  <c:v>Law</c:v>
                </c:pt>
                <c:pt idx="39">
                  <c:v>Law Enforcement &amp; Security</c:v>
                </c:pt>
                <c:pt idx="40">
                  <c:v>Leisure, Sport &amp; Tourism</c:v>
                </c:pt>
                <c:pt idx="41">
                  <c:v>Librarian </c:v>
                </c:pt>
                <c:pt idx="42">
                  <c:v>Libraries</c:v>
                </c:pt>
                <c:pt idx="43">
                  <c:v>Manufacturing</c:v>
                </c:pt>
                <c:pt idx="44">
                  <c:v>Manufacturing </c:v>
                </c:pt>
                <c:pt idx="45">
                  <c:v>Manufacturing and distributing</c:v>
                </c:pt>
                <c:pt idx="46">
                  <c:v>Marketing, Advertising &amp; PR</c:v>
                </c:pt>
                <c:pt idx="47">
                  <c:v>Media &amp; Digital</c:v>
                </c:pt>
                <c:pt idx="48">
                  <c:v>Medical Devices</c:v>
                </c:pt>
                <c:pt idx="49">
                  <c:v>Museum</c:v>
                </c:pt>
                <c:pt idx="50">
                  <c:v>Nonprofits</c:v>
                </c:pt>
                <c:pt idx="51">
                  <c:v>Oil and Gas</c:v>
                </c:pt>
                <c:pt idx="52">
                  <c:v>Pet care industry (dog training/walking)</c:v>
                </c:pt>
                <c:pt idx="53">
                  <c:v>Pharmaceuticals</c:v>
                </c:pt>
                <c:pt idx="54">
                  <c:v>PhD</c:v>
                </c:pt>
                <c:pt idx="55">
                  <c:v>Philanthropy</c:v>
                </c:pt>
                <c:pt idx="56">
                  <c:v>Politics</c:v>
                </c:pt>
                <c:pt idx="57">
                  <c:v>Property or Construction</c:v>
                </c:pt>
                <c:pt idx="58">
                  <c:v>Public health </c:v>
                </c:pt>
                <c:pt idx="59">
                  <c:v>Public health in higher education</c:v>
                </c:pt>
                <c:pt idx="60">
                  <c:v>public library</c:v>
                </c:pt>
                <c:pt idx="61">
                  <c:v>Public Library (technically City Govt.?) </c:v>
                </c:pt>
                <c:pt idx="62">
                  <c:v>Publishing</c:v>
                </c:pt>
                <c:pt idx="63">
                  <c:v>Real Estate</c:v>
                </c:pt>
                <c:pt idx="64">
                  <c:v>Recruitment or HR</c:v>
                </c:pt>
                <c:pt idx="65">
                  <c:v>Renewable energy</c:v>
                </c:pt>
                <c:pt idx="66">
                  <c:v>Research and development</c:v>
                </c:pt>
                <c:pt idx="67">
                  <c:v>Retail</c:v>
                </c:pt>
                <c:pt idx="68">
                  <c:v>Sales</c:v>
                </c:pt>
                <c:pt idx="69">
                  <c:v>Social Work</c:v>
                </c:pt>
                <c:pt idx="70">
                  <c:v>Software as a Service SaaS</c:v>
                </c:pt>
                <c:pt idx="71">
                  <c:v>Space</c:v>
                </c:pt>
                <c:pt idx="72">
                  <c:v>STEM research</c:v>
                </c:pt>
                <c:pt idx="73">
                  <c:v>Surveying </c:v>
                </c:pt>
                <c:pt idx="74">
                  <c:v>Transport or Logistics</c:v>
                </c:pt>
                <c:pt idx="75">
                  <c:v>University administration</c:v>
                </c:pt>
                <c:pt idx="76">
                  <c:v>Unknown</c:v>
                </c:pt>
                <c:pt idx="77">
                  <c:v>Utilities &amp; Telecommunications</c:v>
                </c:pt>
                <c:pt idx="78">
                  <c:v>Veterinary medicine</c:v>
                </c:pt>
              </c:strCache>
            </c:strRef>
          </c:cat>
          <c:val>
            <c:numRef>
              <c:f>'Ind&amp; gen,education by salary'!$H$3:$H$82</c:f>
              <c:numCache>
                <c:formatCode>General</c:formatCode>
                <c:ptCount val="79"/>
                <c:pt idx="17">
                  <c:v>110100</c:v>
                </c:pt>
                <c:pt idx="20">
                  <c:v>53512</c:v>
                </c:pt>
                <c:pt idx="24">
                  <c:v>109000</c:v>
                </c:pt>
                <c:pt idx="37">
                  <c:v>170000</c:v>
                </c:pt>
                <c:pt idx="50">
                  <c:v>44000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CA-4929-9225-F6CA3B4165E6}"/>
            </c:ext>
          </c:extLst>
        </c:ser>
        <c:ser>
          <c:idx val="3"/>
          <c:order val="3"/>
          <c:tx>
            <c:strRef>
              <c:f>'Ind&amp; gen,education by salary'!$I$1:$I$2</c:f>
              <c:strCache>
                <c:ptCount val="1"/>
                <c:pt idx="0">
                  <c:v>Unknown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'Ind&amp; gen,education by salary'!$E$3:$E$82</c:f>
              <c:strCache>
                <c:ptCount val="79"/>
                <c:pt idx="0">
                  <c:v>Academic Medicine </c:v>
                </c:pt>
                <c:pt idx="1">
                  <c:v>Academic research (Psychology)</c:v>
                </c:pt>
                <c:pt idx="2">
                  <c:v>Accounting, Banking &amp; Finance</c:v>
                </c:pt>
                <c:pt idx="3">
                  <c:v>Aerospace</c:v>
                </c:pt>
                <c:pt idx="4">
                  <c:v>Aerospace contracting</c:v>
                </c:pt>
                <c:pt idx="5">
                  <c:v>Agriculture or Forestry</c:v>
                </c:pt>
                <c:pt idx="6">
                  <c:v>Animal Health Product Manufacturing</c:v>
                </c:pt>
                <c:pt idx="7">
                  <c:v>Archaeology / Cultural Resource Management</c:v>
                </c:pt>
                <c:pt idx="8">
                  <c:v>Architecture</c:v>
                </c:pt>
                <c:pt idx="9">
                  <c:v>Art &amp; Design</c:v>
                </c:pt>
                <c:pt idx="10">
                  <c:v>B2B Services </c:v>
                </c:pt>
                <c:pt idx="11">
                  <c:v>Biopharma</c:v>
                </c:pt>
                <c:pt idx="12">
                  <c:v>Biotech</c:v>
                </c:pt>
                <c:pt idx="13">
                  <c:v>Biotechnology</c:v>
                </c:pt>
                <c:pt idx="14">
                  <c:v>Business or Consulting</c:v>
                </c:pt>
                <c:pt idx="15">
                  <c:v>Business Services</c:v>
                </c:pt>
                <c:pt idx="16">
                  <c:v>Commercial Real Estate </c:v>
                </c:pt>
                <c:pt idx="17">
                  <c:v>Computing or Tech</c:v>
                </c:pt>
                <c:pt idx="18">
                  <c:v>Consulting</c:v>
                </c:pt>
                <c:pt idx="19">
                  <c:v>Consumer packaged goods</c:v>
                </c:pt>
                <c:pt idx="20">
                  <c:v>Education (Higher Education)</c:v>
                </c:pt>
                <c:pt idx="21">
                  <c:v>Education (Primary/Secondary)</c:v>
                </c:pt>
                <c:pt idx="22">
                  <c:v>Educational Technology - hybrid between book publishing and technology really</c:v>
                </c:pt>
                <c:pt idx="23">
                  <c:v>Energy</c:v>
                </c:pt>
                <c:pt idx="24">
                  <c:v>Engineering or Manufacturing</c:v>
                </c:pt>
                <c:pt idx="25">
                  <c:v>Entertainment</c:v>
                </c:pt>
                <c:pt idx="26">
                  <c:v>Environmental Consulting</c:v>
                </c:pt>
                <c:pt idx="27">
                  <c:v>Environmental regulation</c:v>
                </c:pt>
                <c:pt idx="28">
                  <c:v>Food manufacturing</c:v>
                </c:pt>
                <c:pt idx="29">
                  <c:v>Food Production/Processing</c:v>
                </c:pt>
                <c:pt idx="30">
                  <c:v>Government and Public Administration</c:v>
                </c:pt>
                <c:pt idx="31">
                  <c:v>Government contractor</c:v>
                </c:pt>
                <c:pt idx="32">
                  <c:v>Government Relations (Lobbying) </c:v>
                </c:pt>
                <c:pt idx="33">
                  <c:v>Health care</c:v>
                </c:pt>
                <c:pt idx="34">
                  <c:v>Health Insurance </c:v>
                </c:pt>
                <c:pt idx="35">
                  <c:v>Heritage/Public History</c:v>
                </c:pt>
                <c:pt idx="36">
                  <c:v>Hospitality &amp; Events</c:v>
                </c:pt>
                <c:pt idx="37">
                  <c:v>Insurance</c:v>
                </c:pt>
                <c:pt idx="38">
                  <c:v>Law</c:v>
                </c:pt>
                <c:pt idx="39">
                  <c:v>Law Enforcement &amp; Security</c:v>
                </c:pt>
                <c:pt idx="40">
                  <c:v>Leisure, Sport &amp; Tourism</c:v>
                </c:pt>
                <c:pt idx="41">
                  <c:v>Librarian </c:v>
                </c:pt>
                <c:pt idx="42">
                  <c:v>Libraries</c:v>
                </c:pt>
                <c:pt idx="43">
                  <c:v>Manufacturing</c:v>
                </c:pt>
                <c:pt idx="44">
                  <c:v>Manufacturing </c:v>
                </c:pt>
                <c:pt idx="45">
                  <c:v>Manufacturing and distributing</c:v>
                </c:pt>
                <c:pt idx="46">
                  <c:v>Marketing, Advertising &amp; PR</c:v>
                </c:pt>
                <c:pt idx="47">
                  <c:v>Media &amp; Digital</c:v>
                </c:pt>
                <c:pt idx="48">
                  <c:v>Medical Devices</c:v>
                </c:pt>
                <c:pt idx="49">
                  <c:v>Museum</c:v>
                </c:pt>
                <c:pt idx="50">
                  <c:v>Nonprofits</c:v>
                </c:pt>
                <c:pt idx="51">
                  <c:v>Oil and Gas</c:v>
                </c:pt>
                <c:pt idx="52">
                  <c:v>Pet care industry (dog training/walking)</c:v>
                </c:pt>
                <c:pt idx="53">
                  <c:v>Pharmaceuticals</c:v>
                </c:pt>
                <c:pt idx="54">
                  <c:v>PhD</c:v>
                </c:pt>
                <c:pt idx="55">
                  <c:v>Philanthropy</c:v>
                </c:pt>
                <c:pt idx="56">
                  <c:v>Politics</c:v>
                </c:pt>
                <c:pt idx="57">
                  <c:v>Property or Construction</c:v>
                </c:pt>
                <c:pt idx="58">
                  <c:v>Public health </c:v>
                </c:pt>
                <c:pt idx="59">
                  <c:v>Public health in higher education</c:v>
                </c:pt>
                <c:pt idx="60">
                  <c:v>public library</c:v>
                </c:pt>
                <c:pt idx="61">
                  <c:v>Public Library (technically City Govt.?) </c:v>
                </c:pt>
                <c:pt idx="62">
                  <c:v>Publishing</c:v>
                </c:pt>
                <c:pt idx="63">
                  <c:v>Real Estate</c:v>
                </c:pt>
                <c:pt idx="64">
                  <c:v>Recruitment or HR</c:v>
                </c:pt>
                <c:pt idx="65">
                  <c:v>Renewable energy</c:v>
                </c:pt>
                <c:pt idx="66">
                  <c:v>Research and development</c:v>
                </c:pt>
                <c:pt idx="67">
                  <c:v>Retail</c:v>
                </c:pt>
                <c:pt idx="68">
                  <c:v>Sales</c:v>
                </c:pt>
                <c:pt idx="69">
                  <c:v>Social Work</c:v>
                </c:pt>
                <c:pt idx="70">
                  <c:v>Software as a Service SaaS</c:v>
                </c:pt>
                <c:pt idx="71">
                  <c:v>Space</c:v>
                </c:pt>
                <c:pt idx="72">
                  <c:v>STEM research</c:v>
                </c:pt>
                <c:pt idx="73">
                  <c:v>Surveying </c:v>
                </c:pt>
                <c:pt idx="74">
                  <c:v>Transport or Logistics</c:v>
                </c:pt>
                <c:pt idx="75">
                  <c:v>University administration</c:v>
                </c:pt>
                <c:pt idx="76">
                  <c:v>Unknown</c:v>
                </c:pt>
                <c:pt idx="77">
                  <c:v>Utilities &amp; Telecommunications</c:v>
                </c:pt>
                <c:pt idx="78">
                  <c:v>Veterinary medicine</c:v>
                </c:pt>
              </c:strCache>
            </c:strRef>
          </c:cat>
          <c:val>
            <c:numRef>
              <c:f>'Ind&amp; gen,education by salary'!$I$3:$I$82</c:f>
              <c:numCache>
                <c:formatCode>General</c:formatCode>
                <c:ptCount val="79"/>
                <c:pt idx="20">
                  <c:v>55230</c:v>
                </c:pt>
                <c:pt idx="30">
                  <c:v>117500</c:v>
                </c:pt>
                <c:pt idx="36">
                  <c:v>75000</c:v>
                </c:pt>
                <c:pt idx="47">
                  <c:v>40000</c:v>
                </c:pt>
                <c:pt idx="50">
                  <c:v>65000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CA-4929-9225-F6CA3B4165E6}"/>
            </c:ext>
          </c:extLst>
        </c:ser>
        <c:ser>
          <c:idx val="4"/>
          <c:order val="4"/>
          <c:tx>
            <c:strRef>
              <c:f>'Ind&amp; gen,education by salary'!$J$1:$J$2</c:f>
              <c:strCache>
                <c:ptCount val="1"/>
                <c:pt idx="0">
                  <c:v>Woman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strRef>
              <c:f>'Ind&amp; gen,education by salary'!$E$3:$E$82</c:f>
              <c:strCache>
                <c:ptCount val="79"/>
                <c:pt idx="0">
                  <c:v>Academic Medicine </c:v>
                </c:pt>
                <c:pt idx="1">
                  <c:v>Academic research (Psychology)</c:v>
                </c:pt>
                <c:pt idx="2">
                  <c:v>Accounting, Banking &amp; Finance</c:v>
                </c:pt>
                <c:pt idx="3">
                  <c:v>Aerospace</c:v>
                </c:pt>
                <c:pt idx="4">
                  <c:v>Aerospace contracting</c:v>
                </c:pt>
                <c:pt idx="5">
                  <c:v>Agriculture or Forestry</c:v>
                </c:pt>
                <c:pt idx="6">
                  <c:v>Animal Health Product Manufacturing</c:v>
                </c:pt>
                <c:pt idx="7">
                  <c:v>Archaeology / Cultural Resource Management</c:v>
                </c:pt>
                <c:pt idx="8">
                  <c:v>Architecture</c:v>
                </c:pt>
                <c:pt idx="9">
                  <c:v>Art &amp; Design</c:v>
                </c:pt>
                <c:pt idx="10">
                  <c:v>B2B Services </c:v>
                </c:pt>
                <c:pt idx="11">
                  <c:v>Biopharma</c:v>
                </c:pt>
                <c:pt idx="12">
                  <c:v>Biotech</c:v>
                </c:pt>
                <c:pt idx="13">
                  <c:v>Biotechnology</c:v>
                </c:pt>
                <c:pt idx="14">
                  <c:v>Business or Consulting</c:v>
                </c:pt>
                <c:pt idx="15">
                  <c:v>Business Services</c:v>
                </c:pt>
                <c:pt idx="16">
                  <c:v>Commercial Real Estate </c:v>
                </c:pt>
                <c:pt idx="17">
                  <c:v>Computing or Tech</c:v>
                </c:pt>
                <c:pt idx="18">
                  <c:v>Consulting</c:v>
                </c:pt>
                <c:pt idx="19">
                  <c:v>Consumer packaged goods</c:v>
                </c:pt>
                <c:pt idx="20">
                  <c:v>Education (Higher Education)</c:v>
                </c:pt>
                <c:pt idx="21">
                  <c:v>Education (Primary/Secondary)</c:v>
                </c:pt>
                <c:pt idx="22">
                  <c:v>Educational Technology - hybrid between book publishing and technology really</c:v>
                </c:pt>
                <c:pt idx="23">
                  <c:v>Energy</c:v>
                </c:pt>
                <c:pt idx="24">
                  <c:v>Engineering or Manufacturing</c:v>
                </c:pt>
                <c:pt idx="25">
                  <c:v>Entertainment</c:v>
                </c:pt>
                <c:pt idx="26">
                  <c:v>Environmental Consulting</c:v>
                </c:pt>
                <c:pt idx="27">
                  <c:v>Environmental regulation</c:v>
                </c:pt>
                <c:pt idx="28">
                  <c:v>Food manufacturing</c:v>
                </c:pt>
                <c:pt idx="29">
                  <c:v>Food Production/Processing</c:v>
                </c:pt>
                <c:pt idx="30">
                  <c:v>Government and Public Administration</c:v>
                </c:pt>
                <c:pt idx="31">
                  <c:v>Government contractor</c:v>
                </c:pt>
                <c:pt idx="32">
                  <c:v>Government Relations (Lobbying) </c:v>
                </c:pt>
                <c:pt idx="33">
                  <c:v>Health care</c:v>
                </c:pt>
                <c:pt idx="34">
                  <c:v>Health Insurance </c:v>
                </c:pt>
                <c:pt idx="35">
                  <c:v>Heritage/Public History</c:v>
                </c:pt>
                <c:pt idx="36">
                  <c:v>Hospitality &amp; Events</c:v>
                </c:pt>
                <c:pt idx="37">
                  <c:v>Insurance</c:v>
                </c:pt>
                <c:pt idx="38">
                  <c:v>Law</c:v>
                </c:pt>
                <c:pt idx="39">
                  <c:v>Law Enforcement &amp; Security</c:v>
                </c:pt>
                <c:pt idx="40">
                  <c:v>Leisure, Sport &amp; Tourism</c:v>
                </c:pt>
                <c:pt idx="41">
                  <c:v>Librarian </c:v>
                </c:pt>
                <c:pt idx="42">
                  <c:v>Libraries</c:v>
                </c:pt>
                <c:pt idx="43">
                  <c:v>Manufacturing</c:v>
                </c:pt>
                <c:pt idx="44">
                  <c:v>Manufacturing </c:v>
                </c:pt>
                <c:pt idx="45">
                  <c:v>Manufacturing and distributing</c:v>
                </c:pt>
                <c:pt idx="46">
                  <c:v>Marketing, Advertising &amp; PR</c:v>
                </c:pt>
                <c:pt idx="47">
                  <c:v>Media &amp; Digital</c:v>
                </c:pt>
                <c:pt idx="48">
                  <c:v>Medical Devices</c:v>
                </c:pt>
                <c:pt idx="49">
                  <c:v>Museum</c:v>
                </c:pt>
                <c:pt idx="50">
                  <c:v>Nonprofits</c:v>
                </c:pt>
                <c:pt idx="51">
                  <c:v>Oil and Gas</c:v>
                </c:pt>
                <c:pt idx="52">
                  <c:v>Pet care industry (dog training/walking)</c:v>
                </c:pt>
                <c:pt idx="53">
                  <c:v>Pharmaceuticals</c:v>
                </c:pt>
                <c:pt idx="54">
                  <c:v>PhD</c:v>
                </c:pt>
                <c:pt idx="55">
                  <c:v>Philanthropy</c:v>
                </c:pt>
                <c:pt idx="56">
                  <c:v>Politics</c:v>
                </c:pt>
                <c:pt idx="57">
                  <c:v>Property or Construction</c:v>
                </c:pt>
                <c:pt idx="58">
                  <c:v>Public health </c:v>
                </c:pt>
                <c:pt idx="59">
                  <c:v>Public health in higher education</c:v>
                </c:pt>
                <c:pt idx="60">
                  <c:v>public library</c:v>
                </c:pt>
                <c:pt idx="61">
                  <c:v>Public Library (technically City Govt.?) </c:v>
                </c:pt>
                <c:pt idx="62">
                  <c:v>Publishing</c:v>
                </c:pt>
                <c:pt idx="63">
                  <c:v>Real Estate</c:v>
                </c:pt>
                <c:pt idx="64">
                  <c:v>Recruitment or HR</c:v>
                </c:pt>
                <c:pt idx="65">
                  <c:v>Renewable energy</c:v>
                </c:pt>
                <c:pt idx="66">
                  <c:v>Research and development</c:v>
                </c:pt>
                <c:pt idx="67">
                  <c:v>Retail</c:v>
                </c:pt>
                <c:pt idx="68">
                  <c:v>Sales</c:v>
                </c:pt>
                <c:pt idx="69">
                  <c:v>Social Work</c:v>
                </c:pt>
                <c:pt idx="70">
                  <c:v>Software as a Service SaaS</c:v>
                </c:pt>
                <c:pt idx="71">
                  <c:v>Space</c:v>
                </c:pt>
                <c:pt idx="72">
                  <c:v>STEM research</c:v>
                </c:pt>
                <c:pt idx="73">
                  <c:v>Surveying </c:v>
                </c:pt>
                <c:pt idx="74">
                  <c:v>Transport or Logistics</c:v>
                </c:pt>
                <c:pt idx="75">
                  <c:v>University administration</c:v>
                </c:pt>
                <c:pt idx="76">
                  <c:v>Unknown</c:v>
                </c:pt>
                <c:pt idx="77">
                  <c:v>Utilities &amp; Telecommunications</c:v>
                </c:pt>
                <c:pt idx="78">
                  <c:v>Veterinary medicine</c:v>
                </c:pt>
              </c:strCache>
            </c:strRef>
          </c:cat>
          <c:val>
            <c:numRef>
              <c:f>'Ind&amp; gen,education by salary'!$J$3:$J$82</c:f>
              <c:numCache>
                <c:formatCode>General</c:formatCode>
                <c:ptCount val="79"/>
                <c:pt idx="1">
                  <c:v>36883</c:v>
                </c:pt>
                <c:pt idx="2">
                  <c:v>361981.44</c:v>
                </c:pt>
                <c:pt idx="3">
                  <c:v>66000</c:v>
                </c:pt>
                <c:pt idx="4">
                  <c:v>122000</c:v>
                </c:pt>
                <c:pt idx="5">
                  <c:v>197000</c:v>
                </c:pt>
                <c:pt idx="6">
                  <c:v>75000</c:v>
                </c:pt>
                <c:pt idx="7">
                  <c:v>79000</c:v>
                </c:pt>
                <c:pt idx="8">
                  <c:v>58000</c:v>
                </c:pt>
                <c:pt idx="9">
                  <c:v>139050</c:v>
                </c:pt>
                <c:pt idx="10">
                  <c:v>115000</c:v>
                </c:pt>
                <c:pt idx="12">
                  <c:v>110000</c:v>
                </c:pt>
                <c:pt idx="13">
                  <c:v>52000</c:v>
                </c:pt>
                <c:pt idx="14">
                  <c:v>373306.74</c:v>
                </c:pt>
                <c:pt idx="15">
                  <c:v>50000</c:v>
                </c:pt>
                <c:pt idx="16">
                  <c:v>55000</c:v>
                </c:pt>
                <c:pt idx="17">
                  <c:v>522000.15</c:v>
                </c:pt>
                <c:pt idx="18">
                  <c:v>150000</c:v>
                </c:pt>
                <c:pt idx="20">
                  <c:v>308536.03000000003</c:v>
                </c:pt>
                <c:pt idx="21">
                  <c:v>255218.86</c:v>
                </c:pt>
                <c:pt idx="22">
                  <c:v>67000</c:v>
                </c:pt>
                <c:pt idx="23">
                  <c:v>76000</c:v>
                </c:pt>
                <c:pt idx="24">
                  <c:v>301837.53000000003</c:v>
                </c:pt>
                <c:pt idx="25">
                  <c:v>50000</c:v>
                </c:pt>
                <c:pt idx="26">
                  <c:v>105000</c:v>
                </c:pt>
                <c:pt idx="27">
                  <c:v>58</c:v>
                </c:pt>
                <c:pt idx="28">
                  <c:v>58240</c:v>
                </c:pt>
                <c:pt idx="29">
                  <c:v>29000</c:v>
                </c:pt>
                <c:pt idx="30">
                  <c:v>334088.74</c:v>
                </c:pt>
                <c:pt idx="31">
                  <c:v>105000</c:v>
                </c:pt>
                <c:pt idx="32">
                  <c:v>65000</c:v>
                </c:pt>
                <c:pt idx="33">
                  <c:v>632212.71</c:v>
                </c:pt>
                <c:pt idx="34">
                  <c:v>72000</c:v>
                </c:pt>
                <c:pt idx="35">
                  <c:v>37500</c:v>
                </c:pt>
                <c:pt idx="36">
                  <c:v>176813.57</c:v>
                </c:pt>
                <c:pt idx="37">
                  <c:v>292166.67</c:v>
                </c:pt>
                <c:pt idx="38">
                  <c:v>533833.03</c:v>
                </c:pt>
                <c:pt idx="39">
                  <c:v>49000</c:v>
                </c:pt>
                <c:pt idx="40">
                  <c:v>76456</c:v>
                </c:pt>
                <c:pt idx="41">
                  <c:v>58000</c:v>
                </c:pt>
                <c:pt idx="42">
                  <c:v>48266.67</c:v>
                </c:pt>
                <c:pt idx="43">
                  <c:v>70000</c:v>
                </c:pt>
                <c:pt idx="45">
                  <c:v>38800</c:v>
                </c:pt>
                <c:pt idx="46">
                  <c:v>300614.17</c:v>
                </c:pt>
                <c:pt idx="47">
                  <c:v>145974.73000000001</c:v>
                </c:pt>
                <c:pt idx="48">
                  <c:v>60000</c:v>
                </c:pt>
                <c:pt idx="50">
                  <c:v>256181.89</c:v>
                </c:pt>
                <c:pt idx="52">
                  <c:v>48500</c:v>
                </c:pt>
                <c:pt idx="53">
                  <c:v>163600</c:v>
                </c:pt>
                <c:pt idx="55">
                  <c:v>72000</c:v>
                </c:pt>
                <c:pt idx="56">
                  <c:v>95000</c:v>
                </c:pt>
                <c:pt idx="57">
                  <c:v>190514.29</c:v>
                </c:pt>
                <c:pt idx="58">
                  <c:v>55000</c:v>
                </c:pt>
                <c:pt idx="59">
                  <c:v>67000</c:v>
                </c:pt>
                <c:pt idx="60">
                  <c:v>106250</c:v>
                </c:pt>
                <c:pt idx="61">
                  <c:v>76302</c:v>
                </c:pt>
                <c:pt idx="62">
                  <c:v>113500</c:v>
                </c:pt>
                <c:pt idx="63">
                  <c:v>90000</c:v>
                </c:pt>
                <c:pt idx="64">
                  <c:v>154075</c:v>
                </c:pt>
                <c:pt idx="65">
                  <c:v>127500</c:v>
                </c:pt>
                <c:pt idx="66">
                  <c:v>58000</c:v>
                </c:pt>
                <c:pt idx="67">
                  <c:v>236727.14</c:v>
                </c:pt>
                <c:pt idx="68">
                  <c:v>185214</c:v>
                </c:pt>
                <c:pt idx="69">
                  <c:v>93600</c:v>
                </c:pt>
                <c:pt idx="70">
                  <c:v>68000</c:v>
                </c:pt>
                <c:pt idx="71">
                  <c:v>75000</c:v>
                </c:pt>
                <c:pt idx="72">
                  <c:v>135000</c:v>
                </c:pt>
                <c:pt idx="74">
                  <c:v>303803.67</c:v>
                </c:pt>
                <c:pt idx="75">
                  <c:v>25217</c:v>
                </c:pt>
                <c:pt idx="76">
                  <c:v>169938</c:v>
                </c:pt>
                <c:pt idx="77">
                  <c:v>356820</c:v>
                </c:pt>
                <c:pt idx="78">
                  <c:v>108000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2CA-4929-9225-F6CA3B416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398416"/>
        <c:axId val="1462405072"/>
      </c:lineChart>
      <c:catAx>
        <c:axId val="146239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405072"/>
        <c:crosses val="autoZero"/>
        <c:auto val="1"/>
        <c:lblAlgn val="ctr"/>
        <c:lblOffset val="100"/>
        <c:noMultiLvlLbl val="0"/>
      </c:catAx>
      <c:valAx>
        <c:axId val="146240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398416"/>
        <c:crosses val="autoZero"/>
        <c:crossBetween val="between"/>
      </c:valAx>
      <c:spPr>
        <a:gradFill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ln>
          <a:solidFill>
            <a:srgbClr val="002060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ab7607b-9548-4c21-af62-011a74d6b67a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[Milestone 1 by queries.xlsx]Country &amp; jobtitle by annual sa!PivotTable4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gradFill>
                  <a:gsLst>
                    <a:gs pos="0">
                      <a:schemeClr val="tx1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pPr>
            <a:r>
              <a:rPr lang="en-IN" sz="1200" baseline="0">
                <a:solidFill>
                  <a:schemeClr val="tx1"/>
                </a:solidFill>
              </a:rPr>
              <a:t>Sum of Avg Sal by Job&amp; Con</a:t>
            </a:r>
          </a:p>
        </c:rich>
      </c:tx>
      <c:layout>
        <c:manualLayout>
          <c:xMode val="edge"/>
          <c:yMode val="edge"/>
          <c:x val="0.18295822397200401"/>
          <c:y val="0.13323855351414399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7621479747464"/>
          <c:y val="0.29104804412817398"/>
          <c:w val="0.63106292412930298"/>
          <c:h val="0.3577312027173070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'Country &amp; jobtitle by annual sa'!$H$5:$H$6</c:f>
              <c:strCache>
                <c:ptCount val="1"/>
                <c:pt idx="0">
                  <c:v>Accounts Manager 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sa'!$H$7:$H$18</c:f>
              <c:numCache>
                <c:formatCode>General</c:formatCode>
                <c:ptCount val="11"/>
                <c:pt idx="2">
                  <c:v>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C1-4823-8802-435B7DA0E9D3}"/>
            </c:ext>
          </c:extLst>
        </c:ser>
        <c:ser>
          <c:idx val="1"/>
          <c:order val="1"/>
          <c:tx>
            <c:strRef>
              <c:f>'Country &amp; jobtitle by annual sa'!$I$5:$I$6</c:f>
              <c:strCache>
                <c:ptCount val="1"/>
                <c:pt idx="0">
                  <c:v>Assistant Professor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sa'!$I$7:$I$18</c:f>
              <c:numCache>
                <c:formatCode>General</c:formatCode>
                <c:ptCount val="11"/>
                <c:pt idx="4">
                  <c:v>120000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C1-4823-8802-435B7DA0E9D3}"/>
            </c:ext>
          </c:extLst>
        </c:ser>
        <c:ser>
          <c:idx val="2"/>
          <c:order val="2"/>
          <c:tx>
            <c:strRef>
              <c:f>'Country &amp; jobtitle by annual sa'!$J$5:$J$6</c:f>
              <c:strCache>
                <c:ptCount val="1"/>
                <c:pt idx="0">
                  <c:v>Civil Engineer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sa'!$J$7:$J$18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2-76C1-4823-8802-435B7DA0E9D3}"/>
            </c:ext>
          </c:extLst>
        </c:ser>
        <c:ser>
          <c:idx val="3"/>
          <c:order val="3"/>
          <c:tx>
            <c:strRef>
              <c:f>'Country &amp; jobtitle by annual sa'!$K$5:$K$6</c:f>
              <c:strCache>
                <c:ptCount val="1"/>
                <c:pt idx="0">
                  <c:v>Data Analyst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sa'!$K$7:$K$18</c:f>
              <c:numCache>
                <c:formatCode>General</c:formatCode>
                <c:ptCount val="11"/>
                <c:pt idx="6">
                  <c:v>885000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C1-4823-8802-435B7DA0E9D3}"/>
            </c:ext>
          </c:extLst>
        </c:ser>
        <c:ser>
          <c:idx val="4"/>
          <c:order val="4"/>
          <c:tx>
            <c:strRef>
              <c:f>'Country &amp; jobtitle by annual sa'!$L$5:$L$6</c:f>
              <c:strCache>
                <c:ptCount val="1"/>
                <c:pt idx="0">
                  <c:v>Deputy Director</c:v>
                </c:pt>
              </c:strCache>
            </c:strRef>
          </c:tx>
          <c:spPr>
            <a:solidFill>
              <a:schemeClr val="dk1">
                <a:tint val="3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sa'!$L$7:$L$18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4-76C1-4823-8802-435B7DA0E9D3}"/>
            </c:ext>
          </c:extLst>
        </c:ser>
        <c:ser>
          <c:idx val="5"/>
          <c:order val="5"/>
          <c:tx>
            <c:strRef>
              <c:f>'Country &amp; jobtitle by annual sa'!$M$5:$M$6</c:f>
              <c:strCache>
                <c:ptCount val="1"/>
                <c:pt idx="0">
                  <c:v>Development Manager</c:v>
                </c:pt>
              </c:strCache>
            </c:strRef>
          </c:tx>
          <c:spPr>
            <a:solidFill>
              <a:schemeClr val="dk1">
                <a:tint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sa'!$M$7:$M$18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5-76C1-4823-8802-435B7DA0E9D3}"/>
            </c:ext>
          </c:extLst>
        </c:ser>
        <c:ser>
          <c:idx val="6"/>
          <c:order val="6"/>
          <c:tx>
            <c:strRef>
              <c:f>'Country &amp; jobtitle by annual sa'!$N$5:$N$6</c:f>
              <c:strCache>
                <c:ptCount val="1"/>
                <c:pt idx="0">
                  <c:v>Digital Media Production Engineer</c:v>
                </c:pt>
              </c:strCache>
            </c:strRef>
          </c:tx>
          <c:spPr>
            <a:solidFill>
              <a:schemeClr val="dk1">
                <a:tint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sa'!$N$7:$N$18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6-76C1-4823-8802-435B7DA0E9D3}"/>
            </c:ext>
          </c:extLst>
        </c:ser>
        <c:ser>
          <c:idx val="7"/>
          <c:order val="7"/>
          <c:tx>
            <c:strRef>
              <c:f>'Country &amp; jobtitle by annual sa'!$O$5:$O$6</c:f>
              <c:strCache>
                <c:ptCount val="1"/>
                <c:pt idx="0">
                  <c:v>Director Of Strategic Initiatives 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ysClr val="windowText" lastClr="000000"/>
              </a:solidFill>
            </a:ln>
            <a:effectLst>
              <a:outerShdw blurRad="50800" dist="50800" dir="5400000" algn="ctr" rotWithShape="0">
                <a:schemeClr val="tx1"/>
              </a:outerShdw>
            </a:effectLst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sa'!$O$7:$O$18</c:f>
              <c:numCache>
                <c:formatCode>General</c:formatCode>
                <c:ptCount val="11"/>
                <c:pt idx="10">
                  <c:v>700000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6C1-4823-8802-435B7DA0E9D3}"/>
            </c:ext>
          </c:extLst>
        </c:ser>
        <c:ser>
          <c:idx val="8"/>
          <c:order val="8"/>
          <c:tx>
            <c:strRef>
              <c:f>'Country &amp; jobtitle by annual sa'!$P$5:$P$6</c:f>
              <c:strCache>
                <c:ptCount val="1"/>
                <c:pt idx="0">
                  <c:v>Doctor (Psychiatry Registrar)</c:v>
                </c:pt>
              </c:strCache>
            </c:strRef>
          </c:tx>
          <c:spPr>
            <a:gradFill>
              <a:gsLst>
                <a:gs pos="0">
                  <a:srgbClr val="7030A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sa'!$P$7:$P$18</c:f>
              <c:numCache>
                <c:formatCode>General</c:formatCode>
                <c:ptCount val="11"/>
                <c:pt idx="1">
                  <c:v>134800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6C1-4823-8802-435B7DA0E9D3}"/>
            </c:ext>
          </c:extLst>
        </c:ser>
        <c:ser>
          <c:idx val="9"/>
          <c:order val="9"/>
          <c:tx>
            <c:strRef>
              <c:f>'Country &amp; jobtitle by annual sa'!$Q$5:$Q$6</c:f>
              <c:strCache>
                <c:ptCount val="1"/>
                <c:pt idx="0">
                  <c:v>Editor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sa'!$Q$7:$Q$18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9-76C1-4823-8802-435B7DA0E9D3}"/>
            </c:ext>
          </c:extLst>
        </c:ser>
        <c:ser>
          <c:idx val="10"/>
          <c:order val="10"/>
          <c:tx>
            <c:strRef>
              <c:f>'Country &amp; jobtitle by annual sa'!$R$5:$R$6</c:f>
              <c:strCache>
                <c:ptCount val="1"/>
                <c:pt idx="0">
                  <c:v>English As A Second Language Teacher</c:v>
                </c:pt>
              </c:strCache>
            </c:strRef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sa'!$R$7:$R$18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A-76C1-4823-8802-435B7DA0E9D3}"/>
            </c:ext>
          </c:extLst>
        </c:ser>
        <c:ser>
          <c:idx val="11"/>
          <c:order val="11"/>
          <c:tx>
            <c:strRef>
              <c:f>'Country &amp; jobtitle by annual sa'!$S$5:$S$6</c:f>
              <c:strCache>
                <c:ptCount val="1"/>
                <c:pt idx="0">
                  <c:v>Equity Partner</c:v>
                </c:pt>
              </c:strCache>
            </c:strRef>
          </c:tx>
          <c:spPr>
            <a:solidFill>
              <a:srgbClr val="7030A0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sa'!$S$7:$S$18</c:f>
              <c:numCache>
                <c:formatCode>General</c:formatCode>
                <c:ptCount val="11"/>
                <c:pt idx="9">
                  <c:v>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6C1-4823-8802-435B7DA0E9D3}"/>
            </c:ext>
          </c:extLst>
        </c:ser>
        <c:ser>
          <c:idx val="12"/>
          <c:order val="12"/>
          <c:tx>
            <c:strRef>
              <c:f>'Country &amp; jobtitle by annual sa'!$T$5:$T$6</c:f>
              <c:strCache>
                <c:ptCount val="1"/>
                <c:pt idx="0">
                  <c:v>Laboratory Technician</c:v>
                </c:pt>
              </c:strCache>
            </c:strRef>
          </c:tx>
          <c:spPr>
            <a:gradFill>
              <a:gsLst>
                <a:gs pos="0">
                  <a:srgbClr val="7030A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sa'!$T$7:$T$18</c:f>
              <c:numCache>
                <c:formatCode>General</c:formatCode>
                <c:ptCount val="11"/>
                <c:pt idx="0">
                  <c:v>1080000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6C1-4823-8802-435B7DA0E9D3}"/>
            </c:ext>
          </c:extLst>
        </c:ser>
        <c:ser>
          <c:idx val="13"/>
          <c:order val="13"/>
          <c:tx>
            <c:strRef>
              <c:f>'Country &amp; jobtitle by annual sa'!$U$5:$U$6</c:f>
              <c:strCache>
                <c:ptCount val="1"/>
                <c:pt idx="0">
                  <c:v>Marketing Director </c:v>
                </c:pt>
              </c:strCache>
            </c:strRef>
          </c:tx>
          <c:spPr>
            <a:solidFill>
              <a:schemeClr val="dk1">
                <a:tint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sa'!$U$7:$U$18</c:f>
              <c:numCache>
                <c:formatCode>General</c:formatCode>
                <c:ptCount val="11"/>
                <c:pt idx="8">
                  <c:v>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6C1-4823-8802-435B7DA0E9D3}"/>
            </c:ext>
          </c:extLst>
        </c:ser>
        <c:ser>
          <c:idx val="14"/>
          <c:order val="14"/>
          <c:tx>
            <c:strRef>
              <c:f>'Country &amp; jobtitle by annual sa'!$V$5:$V$6</c:f>
              <c:strCache>
                <c:ptCount val="1"/>
                <c:pt idx="0">
                  <c:v>Network Managet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sa'!$V$7:$V$18</c:f>
              <c:numCache>
                <c:formatCode>General</c:formatCode>
                <c:ptCount val="11"/>
                <c:pt idx="5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6C1-4823-8802-435B7DA0E9D3}"/>
            </c:ext>
          </c:extLst>
        </c:ser>
        <c:ser>
          <c:idx val="15"/>
          <c:order val="15"/>
          <c:tx>
            <c:strRef>
              <c:f>'Country &amp; jobtitle by annual sa'!$W$5:$W$6</c:f>
              <c:strCache>
                <c:ptCount val="1"/>
                <c:pt idx="0">
                  <c:v>Occupational Therapist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sa'!$W$7:$W$18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F-76C1-4823-8802-435B7DA0E9D3}"/>
            </c:ext>
          </c:extLst>
        </c:ser>
        <c:ser>
          <c:idx val="16"/>
          <c:order val="16"/>
          <c:tx>
            <c:strRef>
              <c:f>'Country &amp; jobtitle by annual sa'!$X$5:$X$6</c:f>
              <c:strCache>
                <c:ptCount val="1"/>
                <c:pt idx="0">
                  <c:v>Program Manager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sa'!$X$7:$X$18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10-76C1-4823-8802-435B7DA0E9D3}"/>
            </c:ext>
          </c:extLst>
        </c:ser>
        <c:ser>
          <c:idx val="17"/>
          <c:order val="17"/>
          <c:tx>
            <c:strRef>
              <c:f>'Country &amp; jobtitle by annual sa'!$Y$5:$Y$6</c:f>
              <c:strCache>
                <c:ptCount val="1"/>
                <c:pt idx="0">
                  <c:v>Programme Administrator</c:v>
                </c:pt>
              </c:strCache>
            </c:strRef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sa'!$Y$7:$Y$18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11-76C1-4823-8802-435B7DA0E9D3}"/>
            </c:ext>
          </c:extLst>
        </c:ser>
        <c:ser>
          <c:idx val="18"/>
          <c:order val="18"/>
          <c:tx>
            <c:strRef>
              <c:f>'Country &amp; jobtitle by annual sa'!$Z$5:$Z$6</c:f>
              <c:strCache>
                <c:ptCount val="1"/>
                <c:pt idx="0">
                  <c:v>Senior Copywriter</c:v>
                </c:pt>
              </c:strCache>
            </c:strRef>
          </c:tx>
          <c:spPr>
            <a:solidFill>
              <a:schemeClr val="dk1">
                <a:tint val="3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sa'!$Z$7:$Z$18</c:f>
              <c:numCache>
                <c:formatCode>General</c:formatCode>
                <c:ptCount val="11"/>
                <c:pt idx="9">
                  <c:v>35000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6C1-4823-8802-435B7DA0E9D3}"/>
            </c:ext>
          </c:extLst>
        </c:ser>
        <c:ser>
          <c:idx val="19"/>
          <c:order val="19"/>
          <c:tx>
            <c:strRef>
              <c:f>'Country &amp; jobtitle by annual sa'!$AA$5:$AA$6</c:f>
              <c:strCache>
                <c:ptCount val="1"/>
                <c:pt idx="0">
                  <c:v>Senior Customer Success Manager</c:v>
                </c:pt>
              </c:strCache>
            </c:strRef>
          </c:tx>
          <c:spPr>
            <a:gradFill>
              <a:gsLst>
                <a:gs pos="100000">
                  <a:srgbClr val="002060"/>
                </a:gs>
                <a:gs pos="0">
                  <a:srgbClr val="002060"/>
                </a:gs>
                <a:gs pos="6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sa'!$AA$7:$AA$18</c:f>
              <c:numCache>
                <c:formatCode>General</c:formatCode>
                <c:ptCount val="11"/>
                <c:pt idx="3">
                  <c:v>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76C1-4823-8802-435B7DA0E9D3}"/>
            </c:ext>
          </c:extLst>
        </c:ser>
        <c:ser>
          <c:idx val="20"/>
          <c:order val="20"/>
          <c:tx>
            <c:strRef>
              <c:f>'Country &amp; jobtitle by annual sa'!$AB$5:$AB$6</c:f>
              <c:strCache>
                <c:ptCount val="1"/>
                <c:pt idx="0">
                  <c:v>Senior Editor</c:v>
                </c:pt>
              </c:strCache>
            </c:strRef>
          </c:tx>
          <c:spPr>
            <a:solidFill>
              <a:schemeClr val="dk1">
                <a:tint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sa'!$AB$7:$AB$18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14-76C1-4823-8802-435B7DA0E9D3}"/>
            </c:ext>
          </c:extLst>
        </c:ser>
        <c:ser>
          <c:idx val="21"/>
          <c:order val="21"/>
          <c:tx>
            <c:strRef>
              <c:f>'Country &amp; jobtitle by annual sa'!$AC$5:$AC$6</c:f>
              <c:strCache>
                <c:ptCount val="1"/>
                <c:pt idx="0">
                  <c:v>Strategic Operations And Programme Manager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sa'!$AC$7:$AC$18</c:f>
              <c:numCache>
                <c:formatCode>General</c:formatCode>
                <c:ptCount val="11"/>
                <c:pt idx="7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76C1-4823-8802-435B7DA0E9D3}"/>
            </c:ext>
          </c:extLst>
        </c:ser>
        <c:ser>
          <c:idx val="22"/>
          <c:order val="22"/>
          <c:tx>
            <c:strRef>
              <c:f>'Country &amp; jobtitle by annual sa'!$AD$5:$AD$6</c:f>
              <c:strCache>
                <c:ptCount val="1"/>
                <c:pt idx="0">
                  <c:v>Teacher 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sa'!$AD$7:$AD$18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16-76C1-4823-8802-435B7DA0E9D3}"/>
            </c:ext>
          </c:extLst>
        </c:ser>
        <c:ser>
          <c:idx val="23"/>
          <c:order val="23"/>
          <c:tx>
            <c:strRef>
              <c:f>'Country &amp; jobtitle by annual sa'!$AE$5:$AE$6</c:f>
              <c:strCache>
                <c:ptCount val="1"/>
                <c:pt idx="0">
                  <c:v>Ux Designer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'Country &amp; jobtitle by annual sa'!$G$7:$G$18</c:f>
              <c:strCache>
                <c:ptCount val="11"/>
                <c:pt idx="0">
                  <c:v>Argentina</c:v>
                </c:pt>
                <c:pt idx="1">
                  <c:v>Australia</c:v>
                </c:pt>
                <c:pt idx="2">
                  <c:v>Australia </c:v>
                </c:pt>
                <c:pt idx="3">
                  <c:v>Canada</c:v>
                </c:pt>
                <c:pt idx="4">
                  <c:v>Denmark</c:v>
                </c:pt>
                <c:pt idx="5">
                  <c:v>Germany</c:v>
                </c:pt>
                <c:pt idx="6">
                  <c:v>India</c:v>
                </c:pt>
                <c:pt idx="7">
                  <c:v>United Kingdom</c:v>
                </c:pt>
                <c:pt idx="8">
                  <c:v>United Kingdom </c:v>
                </c:pt>
                <c:pt idx="9">
                  <c:v>United States of America</c:v>
                </c:pt>
                <c:pt idx="10">
                  <c:v>United States of America </c:v>
                </c:pt>
              </c:strCache>
            </c:strRef>
          </c:cat>
          <c:val>
            <c:numRef>
              <c:f>'Country &amp; jobtitle by annual sa'!$AE$7:$AE$18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17-76C1-4823-8802-435B7DA0E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32879296"/>
        <c:axId val="1932879712"/>
      </c:barChart>
      <c:catAx>
        <c:axId val="193287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2879712"/>
        <c:crosses val="autoZero"/>
        <c:auto val="1"/>
        <c:lblAlgn val="ctr"/>
        <c:lblOffset val="100"/>
        <c:noMultiLvlLbl val="0"/>
      </c:catAx>
      <c:valAx>
        <c:axId val="1932879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2879296"/>
        <c:crosses val="autoZero"/>
        <c:crossBetween val="between"/>
      </c:valAx>
      <c:spPr>
        <a:noFill/>
        <a:ln>
          <a:solidFill>
            <a:sysClr val="windowText" lastClr="000000"/>
          </a:solidFill>
        </a:ln>
        <a:effectLst>
          <a:outerShdw blurRad="50800" dist="50800" dir="5400000" algn="ctr" rotWithShape="0">
            <a:schemeClr val="tx1"/>
          </a:outerShdw>
        </a:effectLst>
      </c:spPr>
    </c:plotArea>
    <c:plotVisOnly val="1"/>
    <c:dispBlanksAs val="gap"/>
    <c:showDLblsOverMax val="0"/>
    <c:extLst>
      <c:ext uri="{0b15fc19-7d7d-44ad-8c2d-2c3a37ce22c3}">
        <chartProps xmlns="https://web.wps.cn/et/2018/main" chartId="{58c1a2e4-371c-4720-8864-e6e4ece5235e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baseline="0"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queries.xlsx]age &amp; gender by median salary!PivotTable4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Median</a:t>
            </a:r>
            <a:r>
              <a:rPr lang="en-US" sz="1200" b="1" baseline="0" dirty="0">
                <a:solidFill>
                  <a:schemeClr val="tx1"/>
                </a:solidFill>
              </a:rPr>
              <a:t> </a:t>
            </a:r>
            <a:r>
              <a:rPr lang="en-US" sz="1200" b="1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200" b="1" baseline="0" dirty="0">
                <a:solidFill>
                  <a:schemeClr val="tx1"/>
                </a:solidFill>
              </a:rPr>
              <a:t> </a:t>
            </a:r>
            <a:r>
              <a:rPr lang="en-US" sz="1200" b="1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by Age &amp; Gender</a:t>
            </a:r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layout>
        <c:manualLayout>
          <c:xMode val="edge"/>
          <c:yMode val="edge"/>
          <c:x val="0.100171216077451"/>
          <c:y val="8.9139316592142803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'age &amp; gender by median salary'!$G$1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rgbClr val="7030A0"/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</a:gradFill>
            <a:ln w="19050">
              <a:solidFill>
                <a:schemeClr val="tx1">
                  <a:alpha val="99000"/>
                </a:schemeClr>
              </a:solidFill>
            </a:ln>
          </c:spPr>
          <c:dPt>
            <c:idx val="0"/>
            <c:bubble3D val="0"/>
            <c:spPr>
              <a:gradFill>
                <a:gsLst>
                  <a:gs pos="0">
                    <a:srgbClr val="7030A0"/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>
                    <a:alpha val="99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30-47DF-B9CA-EF2CA74DCDE4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rgbClr val="7030A0"/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>
                    <a:alpha val="99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0-47DF-B9CA-EF2CA74DCDE4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rgbClr val="7030A0"/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>
                    <a:alpha val="99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0-47DF-B9CA-EF2CA74DCDE4}"/>
              </c:ext>
            </c:extLst>
          </c:dPt>
          <c:dPt>
            <c:idx val="3"/>
            <c:bubble3D val="0"/>
            <c:spPr>
              <a:gradFill>
                <a:gsLst>
                  <a:gs pos="0">
                    <a:srgbClr val="7030A0"/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>
                    <a:alpha val="99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0-47DF-B9CA-EF2CA74DCDE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'age &amp; gender by median salary'!$F$2:$F$6</c:f>
              <c:strCache>
                <c:ptCount val="4"/>
                <c:pt idx="0">
                  <c:v>18-24</c:v>
                </c:pt>
                <c:pt idx="1">
                  <c:v>45-54</c:v>
                </c:pt>
                <c:pt idx="2">
                  <c:v>55-64</c:v>
                </c:pt>
                <c:pt idx="3">
                  <c:v>65 or over</c:v>
                </c:pt>
              </c:strCache>
            </c:strRef>
          </c:cat>
          <c:val>
            <c:numRef>
              <c:f>'age &amp; gender by median salary'!$G$2:$G$6</c:f>
              <c:numCache>
                <c:formatCode>General</c:formatCode>
                <c:ptCount val="4"/>
                <c:pt idx="0">
                  <c:v>127280</c:v>
                </c:pt>
                <c:pt idx="1">
                  <c:v>80000</c:v>
                </c:pt>
                <c:pt idx="2">
                  <c:v>114000</c:v>
                </c:pt>
                <c:pt idx="3">
                  <c:v>104000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30-47DF-B9CA-EF2CA74DCDE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d2ce47a-68a4-4266-9412-8743e5e9853c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queries.xlsx]ind &amp; years of expand count!PivotTable7</c:name>
    <c:fmtId val="-1"/>
  </c:pivotSource>
  <c:chart>
    <c:autoTitleDeleted val="1"/>
    <c:plotArea>
      <c:layout>
        <c:manualLayout>
          <c:layoutTarget val="inner"/>
          <c:xMode val="edge"/>
          <c:yMode val="edge"/>
          <c:x val="0.21155949256343001"/>
          <c:y val="7.7071290944123294E-2"/>
          <c:w val="0.57696030183726998"/>
          <c:h val="0.48190341814209597"/>
        </c:manualLayout>
      </c:layout>
      <c:lineChart>
        <c:grouping val="standard"/>
        <c:varyColors val="0"/>
        <c:ser>
          <c:idx val="0"/>
          <c:order val="0"/>
          <c:tx>
            <c:strRef>
              <c:f>'ind &amp; years of expand count'!$F$3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'ind &amp; years of expand count'!$E$4:$E$14</c:f>
              <c:strCache>
                <c:ptCount val="10"/>
                <c:pt idx="0">
                  <c:v>Accounting, Banking &amp; Finance</c:v>
                </c:pt>
                <c:pt idx="1">
                  <c:v>Business or Consulting</c:v>
                </c:pt>
                <c:pt idx="2">
                  <c:v>Computing or Tech</c:v>
                </c:pt>
                <c:pt idx="3">
                  <c:v>Education (Higher Education)</c:v>
                </c:pt>
                <c:pt idx="4">
                  <c:v>Engineering or Manufacturing</c:v>
                </c:pt>
                <c:pt idx="5">
                  <c:v>Government and Public Administration</c:v>
                </c:pt>
                <c:pt idx="6">
                  <c:v>Health care</c:v>
                </c:pt>
                <c:pt idx="7">
                  <c:v>Law</c:v>
                </c:pt>
                <c:pt idx="8">
                  <c:v>Marketing, Advertising &amp; PR</c:v>
                </c:pt>
                <c:pt idx="9">
                  <c:v>Nonprofits</c:v>
                </c:pt>
              </c:strCache>
            </c:strRef>
          </c:cat>
          <c:val>
            <c:numRef>
              <c:f>'ind &amp; years of expand count'!$F$4:$F$14</c:f>
              <c:numCache>
                <c:formatCode>General</c:formatCode>
                <c:ptCount val="10"/>
                <c:pt idx="0">
                  <c:v>61</c:v>
                </c:pt>
                <c:pt idx="1">
                  <c:v>33</c:v>
                </c:pt>
                <c:pt idx="2">
                  <c:v>83</c:v>
                </c:pt>
                <c:pt idx="3">
                  <c:v>96</c:v>
                </c:pt>
                <c:pt idx="4">
                  <c:v>58</c:v>
                </c:pt>
                <c:pt idx="5">
                  <c:v>80</c:v>
                </c:pt>
                <c:pt idx="6">
                  <c:v>44</c:v>
                </c:pt>
                <c:pt idx="7">
                  <c:v>32</c:v>
                </c:pt>
                <c:pt idx="8">
                  <c:v>33</c:v>
                </c:pt>
                <c:pt idx="9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8B-490B-A397-33D4EED434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6951088"/>
        <c:axId val="1466956912"/>
      </c:lineChart>
      <c:catAx>
        <c:axId val="146695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956912"/>
        <c:crosses val="autoZero"/>
        <c:auto val="1"/>
        <c:lblAlgn val="ctr"/>
        <c:lblOffset val="100"/>
        <c:noMultiLvlLbl val="0"/>
      </c:catAx>
      <c:valAx>
        <c:axId val="146695691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95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358dc7c4-57ec-47dd-af46-ceffb3fca75f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queries.xlsx]job title by ann&amp; exp!PivotTable5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 Salary by</a:t>
            </a:r>
            <a:r>
              <a:rPr lang="en-US" baseline="0" dirty="0"/>
              <a:t> Job title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baseline="0">
              <a:ln>
                <a:solidFill>
                  <a:schemeClr val="tx1"/>
                </a:solidFill>
              </a:ln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'job title by ann&amp; exp'!$F$1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'job title by ann&amp; exp'!$E$2:$E$12</c:f>
              <c:strCache>
                <c:ptCount val="10"/>
                <c:pt idx="0">
                  <c:v>Accounting Manager</c:v>
                </c:pt>
                <c:pt idx="1">
                  <c:v>Attorney</c:v>
                </c:pt>
                <c:pt idx="2">
                  <c:v>Data Analyst</c:v>
                </c:pt>
                <c:pt idx="3">
                  <c:v>Director Of Strategic Initiatives </c:v>
                </c:pt>
                <c:pt idx="4">
                  <c:v>Editor</c:v>
                </c:pt>
                <c:pt idx="5">
                  <c:v>Equity Partner</c:v>
                </c:pt>
                <c:pt idx="6">
                  <c:v>Laboratory Technician</c:v>
                </c:pt>
                <c:pt idx="7">
                  <c:v>Program Manager</c:v>
                </c:pt>
                <c:pt idx="8">
                  <c:v>Project Manager</c:v>
                </c:pt>
                <c:pt idx="9">
                  <c:v>Software Engineer</c:v>
                </c:pt>
              </c:strCache>
            </c:strRef>
          </c:cat>
          <c:val>
            <c:numRef>
              <c:f>'job title by ann&amp; exp'!$F$2:$F$12</c:f>
              <c:numCache>
                <c:formatCode>General</c:formatCode>
                <c:ptCount val="10"/>
                <c:pt idx="0">
                  <c:v>510360</c:v>
                </c:pt>
                <c:pt idx="1">
                  <c:v>571000</c:v>
                </c:pt>
                <c:pt idx="2">
                  <c:v>947000</c:v>
                </c:pt>
                <c:pt idx="3">
                  <c:v>700000</c:v>
                </c:pt>
                <c:pt idx="4">
                  <c:v>557167</c:v>
                </c:pt>
                <c:pt idx="5">
                  <c:v>600000</c:v>
                </c:pt>
                <c:pt idx="6">
                  <c:v>1303000</c:v>
                </c:pt>
                <c:pt idx="7">
                  <c:v>718000</c:v>
                </c:pt>
                <c:pt idx="8">
                  <c:v>864825</c:v>
                </c:pt>
                <c:pt idx="9">
                  <c:v>738000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9-40DF-8ABC-FC9ADCD7B1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35664"/>
        <c:axId val="1035248"/>
      </c:barChart>
      <c:catAx>
        <c:axId val="103566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cap="all" baseline="0">
                <a:ln>
                  <a:solidFill>
                    <a:schemeClr val="tx1"/>
                  </a:solidFill>
                </a:ln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248"/>
        <c:crosses val="autoZero"/>
        <c:auto val="1"/>
        <c:lblAlgn val="ctr"/>
        <c:lblOffset val="100"/>
        <c:noMultiLvlLbl val="0"/>
      </c:catAx>
      <c:valAx>
        <c:axId val="103524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604b5a1-7ac1-41b2-8855-946542ca43bb}"/>
      </c:ext>
    </c:extLst>
  </c:chart>
  <c:spPr>
    <a:gradFill flip="none" rotWithShape="1">
      <a:gsLst>
        <a:gs pos="4000">
          <a:srgbClr val="002060"/>
        </a:gs>
        <a:gs pos="100000">
          <a:schemeClr val="accent3">
            <a:lumMod val="60000"/>
            <a:lumOff val="40000"/>
          </a:schemeClr>
        </a:gs>
      </a:gsLst>
      <a:lin ang="2700000" scaled="1"/>
      <a:tileRect/>
    </a:gra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>
          <a:ln>
            <a:solidFill>
              <a:schemeClr val="tx1"/>
            </a:solidFill>
          </a:ln>
          <a:solidFill>
            <a:schemeClr val="dk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[Milestone 1 by queries.xlsx]salary distribution by educatio!PivotTable3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>
                <a:solidFill>
                  <a:schemeClr val="tx1"/>
                </a:solidFill>
              </a:rPr>
              <a:t>Sum</a:t>
            </a:r>
            <a:r>
              <a:rPr lang="en-IN" baseline="0" dirty="0">
                <a:solidFill>
                  <a:schemeClr val="tx1"/>
                </a:solidFill>
              </a:rPr>
              <a:t> of Min and </a:t>
            </a:r>
            <a:r>
              <a:rPr lang="en-IN" baseline="0" dirty="0" err="1">
                <a:solidFill>
                  <a:schemeClr val="tx1"/>
                </a:solidFill>
              </a:rPr>
              <a:t>max,avg</a:t>
            </a:r>
            <a:r>
              <a:rPr lang="en-IN" baseline="0" dirty="0">
                <a:solidFill>
                  <a:schemeClr val="tx1"/>
                </a:solidFill>
              </a:rPr>
              <a:t> by </a:t>
            </a:r>
            <a:r>
              <a:rPr lang="en-IN" baseline="0" dirty="0" err="1">
                <a:solidFill>
                  <a:schemeClr val="tx1"/>
                </a:solidFill>
              </a:rPr>
              <a:t>edu</a:t>
            </a:r>
            <a:endParaRPr lang="en-IN" dirty="0">
              <a:solidFill>
                <a:schemeClr val="tx1"/>
              </a:solidFill>
            </a:endParaRPr>
          </a:p>
        </c:rich>
      </c:tx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'salary distribution by educatio'!$K$2</c:f>
              <c:strCache>
                <c:ptCount val="1"/>
                <c:pt idx="0">
                  <c:v>Sum of Average_Salary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'salary distribution by educatio'!$J$3:$J$9</c:f>
              <c:strCache>
                <c:ptCount val="6"/>
                <c:pt idx="0">
                  <c:v>College degree</c:v>
                </c:pt>
                <c:pt idx="1">
                  <c:v>High School</c:v>
                </c:pt>
                <c:pt idx="2">
                  <c:v>Master's degree</c:v>
                </c:pt>
                <c:pt idx="3">
                  <c:v>PhD</c:v>
                </c:pt>
                <c:pt idx="4">
                  <c:v>Some college</c:v>
                </c:pt>
                <c:pt idx="5">
                  <c:v>Unknown</c:v>
                </c:pt>
              </c:strCache>
            </c:strRef>
          </c:cat>
          <c:val>
            <c:numRef>
              <c:f>'salary distribution by educatio'!$K$3:$K$9</c:f>
              <c:numCache>
                <c:formatCode>General</c:formatCode>
                <c:ptCount val="6"/>
                <c:pt idx="0">
                  <c:v>80450.67</c:v>
                </c:pt>
                <c:pt idx="1">
                  <c:v>71806.67</c:v>
                </c:pt>
                <c:pt idx="2">
                  <c:v>85510.57</c:v>
                </c:pt>
                <c:pt idx="3">
                  <c:v>109275.54</c:v>
                </c:pt>
                <c:pt idx="4">
                  <c:v>66764.509999999995</c:v>
                </c:pt>
                <c:pt idx="5">
                  <c:v>81985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C-4866-A569-2301B9F2E81A}"/>
            </c:ext>
          </c:extLst>
        </c:ser>
        <c:ser>
          <c:idx val="1"/>
          <c:order val="1"/>
          <c:tx>
            <c:strRef>
              <c:f>'salary distribution by educatio'!$L$2</c:f>
              <c:strCache>
                <c:ptCount val="1"/>
                <c:pt idx="0">
                  <c:v>Sum of Minimum_Salary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'salary distribution by educatio'!$J$3:$J$9</c:f>
              <c:strCache>
                <c:ptCount val="6"/>
                <c:pt idx="0">
                  <c:v>College degree</c:v>
                </c:pt>
                <c:pt idx="1">
                  <c:v>High School</c:v>
                </c:pt>
                <c:pt idx="2">
                  <c:v>Master's degree</c:v>
                </c:pt>
                <c:pt idx="3">
                  <c:v>PhD</c:v>
                </c:pt>
                <c:pt idx="4">
                  <c:v>Some college</c:v>
                </c:pt>
                <c:pt idx="5">
                  <c:v>Unknown</c:v>
                </c:pt>
              </c:strCache>
            </c:strRef>
          </c:cat>
          <c:val>
            <c:numRef>
              <c:f>'salary distribution by educatio'!$L$3:$L$9</c:f>
              <c:numCache>
                <c:formatCode>General</c:formatCode>
                <c:ptCount val="6"/>
                <c:pt idx="0">
                  <c:v>35</c:v>
                </c:pt>
                <c:pt idx="1">
                  <c:v>23000</c:v>
                </c:pt>
                <c:pt idx="2">
                  <c:v>58</c:v>
                </c:pt>
                <c:pt idx="3">
                  <c:v>25000</c:v>
                </c:pt>
                <c:pt idx="4">
                  <c:v>19300</c:v>
                </c:pt>
                <c:pt idx="5">
                  <c:v>23050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C-4866-A569-2301B9F2E81A}"/>
            </c:ext>
          </c:extLst>
        </c:ser>
        <c:ser>
          <c:idx val="2"/>
          <c:order val="2"/>
          <c:tx>
            <c:strRef>
              <c:f>'salary distribution by educatio'!$M$2</c:f>
              <c:strCache>
                <c:ptCount val="1"/>
                <c:pt idx="0">
                  <c:v>Sum of Maximum_Salary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'salary distribution by educatio'!$J$3:$J$9</c:f>
              <c:strCache>
                <c:ptCount val="6"/>
                <c:pt idx="0">
                  <c:v>College degree</c:v>
                </c:pt>
                <c:pt idx="1">
                  <c:v>High School</c:v>
                </c:pt>
                <c:pt idx="2">
                  <c:v>Master's degree</c:v>
                </c:pt>
                <c:pt idx="3">
                  <c:v>PhD</c:v>
                </c:pt>
                <c:pt idx="4">
                  <c:v>Some college</c:v>
                </c:pt>
                <c:pt idx="5">
                  <c:v>Unknown</c:v>
                </c:pt>
              </c:strCache>
            </c:strRef>
          </c:cat>
          <c:val>
            <c:numRef>
              <c:f>'salary distribution by educatio'!$M$3:$M$9</c:f>
              <c:numCache>
                <c:formatCode>General</c:formatCode>
                <c:ptCount val="6"/>
                <c:pt idx="0">
                  <c:v>1080000</c:v>
                </c:pt>
                <c:pt idx="1">
                  <c:v>260000</c:v>
                </c:pt>
                <c:pt idx="2">
                  <c:v>885000</c:v>
                </c:pt>
                <c:pt idx="3">
                  <c:v>600000</c:v>
                </c:pt>
                <c:pt idx="4">
                  <c:v>210000</c:v>
                </c:pt>
                <c:pt idx="5">
                  <c:v>222000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1C-4866-A569-2301B9F2E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0778143"/>
        <c:axId val="1580777311"/>
      </c:barChart>
      <c:catAx>
        <c:axId val="1580778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777311"/>
        <c:crosses val="autoZero"/>
        <c:auto val="1"/>
        <c:lblAlgn val="ctr"/>
        <c:lblOffset val="100"/>
        <c:noMultiLvlLbl val="0"/>
      </c:catAx>
      <c:valAx>
        <c:axId val="158077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778143"/>
        <c:crosses val="autoZero"/>
        <c:crossBetween val="between"/>
      </c:valAx>
      <c:spPr>
        <a:gradFill>
          <a:gsLst>
            <a:gs pos="8000">
              <a:srgbClr val="002060"/>
            </a:gs>
            <a:gs pos="65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840136054421802"/>
          <c:y val="0.32798016056816398"/>
          <c:w val="0.34183673469387799"/>
          <c:h val="0.625069090628377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71c20e6-5100-45f7-8ef7-c88215989469}"/>
      </c:ext>
    </c:extLst>
  </c:chart>
  <c:spPr>
    <a:gradFill>
      <a:gsLst>
        <a:gs pos="0">
          <a:srgbClr val="002060"/>
        </a:gs>
        <a:gs pos="48000">
          <a:schemeClr val="accent3">
            <a:lumMod val="97000"/>
            <a:lumOff val="3000"/>
          </a:schemeClr>
        </a:gs>
        <a:gs pos="100000">
          <a:schemeClr val="accent3">
            <a:lumMod val="60000"/>
            <a:lumOff val="40000"/>
          </a:schemeClr>
        </a:gs>
      </a:gsLst>
      <a:lin ang="16200000" scaled="1"/>
    </a:gra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chemeClr val="tx1"/>
                </a:solidFill>
              </a:rPr>
              <a:t>Avg Salary by City</a:t>
            </a:r>
            <a:r>
              <a:rPr lang="en-IN" baseline="0">
                <a:solidFill>
                  <a:schemeClr val="tx1"/>
                </a:solidFill>
              </a:rPr>
              <a:t> &amp; Ind </a:t>
            </a:r>
            <a:endParaRPr lang="en-IN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3020083279437999"/>
          <c:y val="0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707391658491"/>
          <c:y val="0.19300417885830701"/>
          <c:w val="0.77412616621451702"/>
          <c:h val="0.318462744240303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60000</c:f>
              <c:strCache>
                <c:ptCount val="1"/>
                <c:pt idx="0">
                  <c:v>60000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{0,120000,0,0,0,60000,0,0,0,60000}</c:f>
              <c:numCache>
                <c:formatCode>General</c:formatCode>
                <c:ptCount val="10"/>
                <c:pt idx="0">
                  <c:v>0</c:v>
                </c:pt>
                <c:pt idx="1">
                  <c:v>120000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60000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BD-461F-860C-7796BDCD036C}"/>
            </c:ext>
          </c:extLst>
        </c:ser>
        <c:ser>
          <c:idx val="1"/>
          <c:order val="1"/>
          <c:tx>
            <c:strRef>
              <c:f>65000</c:f>
              <c:strCache>
                <c:ptCount val="1"/>
                <c:pt idx="0">
                  <c:v>65000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{0,0,0,65000,0,0,0,0,65000,65000}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65000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65000</c:v>
                </c:pt>
                <c:pt idx="9">
                  <c:v>65000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D-461F-860C-7796BDCD036C}"/>
            </c:ext>
          </c:extLst>
        </c:ser>
        <c:ser>
          <c:idx val="2"/>
          <c:order val="2"/>
          <c:tx>
            <c:strRef>
              <c:f>70000</c:f>
              <c:strCache>
                <c:ptCount val="1"/>
                <c:pt idx="0">
                  <c:v>70000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{0,0,70000,0,0,0,0,0,70000,0}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70000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70000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BD-461F-860C-7796BDCD036C}"/>
            </c:ext>
          </c:extLst>
        </c:ser>
        <c:ser>
          <c:idx val="3"/>
          <c:order val="3"/>
          <c:tx>
            <c:strRef>
              <c:f>75000</c:f>
              <c:strCache>
                <c:ptCount val="1"/>
                <c:pt idx="0">
                  <c:v>75000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{0,0,0,0,75000,0,0,0,0,150000}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75000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9BD-461F-860C-7796BDCD036C}"/>
            </c:ext>
          </c:extLst>
        </c:ser>
        <c:ser>
          <c:idx val="4"/>
          <c:order val="4"/>
          <c:tx>
            <c:strRef>
              <c:f>90000</c:f>
              <c:strCache>
                <c:ptCount val="1"/>
                <c:pt idx="0">
                  <c:v>90000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{0,0,0,0,90000,0,90000,0,0,90000}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90000</c:v>
                </c:pt>
                <c:pt idx="5">
                  <c:v>0</c:v>
                </c:pt>
                <c:pt idx="6">
                  <c:v>90000</c:v>
                </c:pt>
                <c:pt idx="7">
                  <c:v>0</c:v>
                </c:pt>
                <c:pt idx="8">
                  <c:v>0</c:v>
                </c:pt>
                <c:pt idx="9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BD-461F-860C-7796BDCD036C}"/>
            </c:ext>
          </c:extLst>
        </c:ser>
        <c:ser>
          <c:idx val="5"/>
          <c:order val="5"/>
          <c:tx>
            <c:strRef>
              <c:f>100000</c:f>
              <c:strCache>
                <c:ptCount val="1"/>
                <c:pt idx="0">
                  <c:v>100000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{0,0,0,0,0,100000,0,0,0,100000}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100000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9BD-461F-860C-7796BDCD036C}"/>
            </c:ext>
          </c:extLst>
        </c:ser>
        <c:ser>
          <c:idx val="6"/>
          <c:order val="6"/>
          <c:tx>
            <c:strRef>
              <c:f>110000</c:f>
              <c:strCache>
                <c:ptCount val="1"/>
                <c:pt idx="0">
                  <c:v>110000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{0,110000,0,110000,0,110000,110000,0,110000,0}</c:f>
              <c:numCache>
                <c:formatCode>General</c:formatCode>
                <c:ptCount val="10"/>
                <c:pt idx="0">
                  <c:v>0</c:v>
                </c:pt>
                <c:pt idx="1">
                  <c:v>110000</c:v>
                </c:pt>
                <c:pt idx="2">
                  <c:v>0</c:v>
                </c:pt>
                <c:pt idx="3">
                  <c:v>110000</c:v>
                </c:pt>
                <c:pt idx="4">
                  <c:v>0</c:v>
                </c:pt>
                <c:pt idx="5">
                  <c:v>110000</c:v>
                </c:pt>
                <c:pt idx="6">
                  <c:v>110000</c:v>
                </c:pt>
                <c:pt idx="7">
                  <c:v>0</c:v>
                </c:pt>
                <c:pt idx="8">
                  <c:v>110000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BD-461F-860C-7796BDCD036C}"/>
            </c:ext>
          </c:extLst>
        </c:ser>
        <c:ser>
          <c:idx val="7"/>
          <c:order val="7"/>
          <c:tx>
            <c:strRef>
              <c:f>120000</c:f>
              <c:strCache>
                <c:ptCount val="1"/>
                <c:pt idx="0">
                  <c:v>120000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{0,0,120000,0,120000,0,0,0,0,0}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120000</c:v>
                </c:pt>
                <c:pt idx="3">
                  <c:v>0</c:v>
                </c:pt>
                <c:pt idx="4">
                  <c:v>120000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9BD-461F-860C-7796BDCD036C}"/>
            </c:ext>
          </c:extLst>
        </c:ser>
        <c:ser>
          <c:idx val="8"/>
          <c:order val="8"/>
          <c:tx>
            <c:strRef>
              <c:f>885000</c:f>
              <c:strCache>
                <c:ptCount val="1"/>
                <c:pt idx="0">
                  <c:v>885000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{0,0,0,0,0,0,0,885000,0,0}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885000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BD-461F-860C-7796BDCD036C}"/>
            </c:ext>
          </c:extLst>
        </c:ser>
        <c:ser>
          <c:idx val="9"/>
          <c:order val="9"/>
          <c:tx>
            <c:strRef>
              <c:f>1080000</c:f>
              <c:strCache>
                <c:ptCount val="1"/>
                <c:pt idx="0">
                  <c:v>1080000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{"City of Buenos Aires","Columbus","Houston","Kansas City","Los Angeles","NYC","Philadelphia","Pune","Richmond","Toronto"}</c:f>
              <c:strCache>
                <c:ptCount val="10"/>
                <c:pt idx="0">
                  <c:v>City of Buenos Aires</c:v>
                </c:pt>
                <c:pt idx="1">
                  <c:v>Columbus</c:v>
                </c:pt>
                <c:pt idx="2">
                  <c:v>Houston</c:v>
                </c:pt>
                <c:pt idx="3">
                  <c:v>Kansas City</c:v>
                </c:pt>
                <c:pt idx="4">
                  <c:v>Los Angeles</c:v>
                </c:pt>
                <c:pt idx="5">
                  <c:v>NYC</c:v>
                </c:pt>
                <c:pt idx="6">
                  <c:v>Philadelphia</c:v>
                </c:pt>
                <c:pt idx="7">
                  <c:v>Pune</c:v>
                </c:pt>
                <c:pt idx="8">
                  <c:v>Richmond</c:v>
                </c:pt>
                <c:pt idx="9">
                  <c:v>Toronto</c:v>
                </c:pt>
              </c:strCache>
            </c:strRef>
          </c:cat>
          <c:val>
            <c:numRef>
              <c:f>{1080000,0,0,0,0,0,0,0,0,0}</c:f>
              <c:numCache>
                <c:formatCode>General</c:formatCode>
                <c:ptCount val="10"/>
                <c:pt idx="0">
                  <c:v>1080000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9BD-461F-860C-7796BDCD0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4378976"/>
        <c:axId val="1784371904"/>
      </c:barChart>
      <c:catAx>
        <c:axId val="1784378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4371904"/>
        <c:crosses val="autoZero"/>
        <c:auto val="1"/>
        <c:lblAlgn val="ctr"/>
        <c:lblOffset val="100"/>
        <c:noMultiLvlLbl val="0"/>
      </c:catAx>
      <c:valAx>
        <c:axId val="178437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4378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019279808255801"/>
          <c:y val="0.268189709981904"/>
          <c:w val="0.24980720191744199"/>
          <c:h val="0.687895534797281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baee111-be24-4fdf-a162-948b2eaf0f49}"/>
      </c:ext>
    </c:extLst>
  </c:chart>
  <c:spPr>
    <a:gradFill>
      <a:gsLst>
        <a:gs pos="4000">
          <a:srgbClr val="002060"/>
        </a:gs>
        <a:gs pos="100000">
          <a:schemeClr val="accent3">
            <a:lumMod val="60000"/>
            <a:lumOff val="40000"/>
          </a:schemeClr>
        </a:gs>
      </a:gsLst>
      <a:lin ang="27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ECFF"/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Survey Data Analysis Project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-Milestone-1</a:t>
            </a:r>
            <a:endParaRPr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subTitle" idx="1"/>
          </p:nvPr>
        </p:nvSpPr>
        <p:spPr>
          <a:xfrm>
            <a:off x="1880870" y="4672965"/>
            <a:ext cx="3837940" cy="1633220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 : </a:t>
            </a:r>
            <a:r>
              <a:rPr lang="en-US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Kamatchi</a:t>
            </a:r>
            <a:r>
              <a:rPr lang="en-US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Lalitha.R</a:t>
            </a:r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: DA &amp; DS</a:t>
            </a:r>
          </a:p>
          <a:p>
            <a:pPr algn="ctr"/>
            <a:r>
              <a:rPr lang="en-US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 :  June -25</a:t>
            </a:r>
          </a:p>
          <a:p>
            <a:pPr algn="ctr"/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500" dirty="0">
              <a:solidFill>
                <a:schemeClr val="bg1"/>
              </a:solidFill>
            </a:endParaRPr>
          </a:p>
          <a:p>
            <a:pPr algn="ctr"/>
            <a:br>
              <a:rPr lang="en-US" sz="3100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sz="1800" b="1" dirty="0"/>
          </a:p>
          <a:p>
            <a:pPr algn="ctr"/>
            <a:endParaRPr lang="en-US" sz="1800" b="1" dirty="0"/>
          </a:p>
          <a:p>
            <a:pPr algn="ctr"/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1381126"/>
            <a:ext cx="2981324" cy="111442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Project overview 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l="30776" r="30776"/>
          <a:stretch>
            <a:fillRect/>
          </a:stretch>
        </p:blipFill>
        <p:spPr>
          <a:xfrm>
            <a:off x="4113561" y="523405"/>
            <a:ext cx="3927794" cy="4236720"/>
          </a:xfrm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328295" y="2756535"/>
            <a:ext cx="3853180" cy="3119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1800" dirty="0"/>
              <a:t>The dataset captures employee information such as salary, education, experience, gender, and industry.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800" dirty="0"/>
              <a:t> Purpose: Identify pay disparities, compensation drivers, and outliers.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800" dirty="0"/>
              <a:t>Tools: Excel for data cleaning, SQL for querying</a:t>
            </a:r>
            <a:r>
              <a:rPr lang="en-IN" sz="1800" dirty="0"/>
              <a:t>.</a:t>
            </a:r>
            <a:endParaRPr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611" y="2608140"/>
            <a:ext cx="3291082" cy="3583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530" y="1179195"/>
            <a:ext cx="4422775" cy="842010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sym typeface="+mn-ea"/>
              </a:rPr>
              <a:t>Data Cleaning &amp; Preparation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l="27923" r="27923"/>
          <a:stretch>
            <a:fillRect/>
          </a:stretch>
        </p:blipFill>
        <p:spPr>
          <a:xfrm>
            <a:off x="3656965" y="2599055"/>
            <a:ext cx="2886075" cy="4222750"/>
          </a:xfrm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374072" y="2021376"/>
            <a:ext cx="2903491" cy="359871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dirty="0"/>
              <a:t> Removed nulls and duplicates to ensure integrity.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IN" dirty="0"/>
              <a:t>Standardized data types.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dirty="0"/>
              <a:t>Converted salary data to numeric format.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dirty="0"/>
              <a:t>Ensured consistent currency and units across records.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43" y="2104620"/>
            <a:ext cx="2113780" cy="36903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660400"/>
            <a:ext cx="3450590" cy="94361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Handling Missing values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l="8524" r="8524"/>
          <a:stretch>
            <a:fillRect/>
          </a:stretch>
        </p:blipFill>
        <p:spPr>
          <a:xfrm>
            <a:off x="5161732" y="1051559"/>
            <a:ext cx="2735566" cy="4276899"/>
          </a:xfrm>
          <a:prstGeom prst="snip2DiagRect">
            <a:avLst>
              <a:gd name="adj1" fmla="val 10815"/>
              <a:gd name="adj2" fmla="val 7094"/>
            </a:avLst>
          </a:prstGeom>
        </p:spPr>
      </p:pic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463160" y="1729047"/>
            <a:ext cx="4461422" cy="4443298"/>
          </a:xfrm>
        </p:spPr>
        <p:txBody>
          <a:bodyPr>
            <a:normAutofit fontScale="77500" lnSpcReduction="20000"/>
          </a:bodyPr>
          <a:lstStyle/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Cleaning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 like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Currency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Clarification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had many missing or unclear entries (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None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Unknown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text entries were non-numeric (e.g., “I work for a Charter School”).</a:t>
            </a:r>
          </a:p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Steps</a:t>
            </a:r>
          </a:p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None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Unknown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blank or NULL values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Dropped columns with repetitive data (like </a:t>
            </a:r>
            <a:r>
              <a:rPr lang="en-US" sz="2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Currency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numeric data types for consistency.</a:t>
            </a:r>
          </a:p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Reduced data noise and improved accuracy.</a:t>
            </a:r>
            <a:b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 ready for visualization and further analysis.</a:t>
            </a:r>
          </a:p>
          <a:p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5693848" y="2712576"/>
            <a:ext cx="2203450" cy="376872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7323" y="695007"/>
            <a:ext cx="6446838" cy="990600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07323" y="1939925"/>
            <a:ext cx="4480561" cy="3563099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 Mean Salary: </a:t>
            </a:r>
            <a:r>
              <a:rPr b="1" dirty="0">
                <a:solidFill>
                  <a:schemeClr val="bg1"/>
                </a:solidFill>
              </a:rPr>
              <a:t>₹3,61,953</a:t>
            </a:r>
          </a:p>
          <a:p>
            <a:r>
              <a:rPr dirty="0"/>
              <a:t> Standard Deviation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b="1" dirty="0">
                <a:solidFill>
                  <a:schemeClr val="bg1"/>
                </a:solidFill>
              </a:rPr>
              <a:t>₹36,196,596.</a:t>
            </a:r>
            <a:r>
              <a:rPr lang="en-IN" b="1" dirty="0">
                <a:solidFill>
                  <a:schemeClr val="bg1"/>
                </a:solidFill>
              </a:rPr>
              <a:t>02</a:t>
            </a:r>
            <a:endParaRPr b="1" dirty="0">
              <a:solidFill>
                <a:schemeClr val="bg1"/>
              </a:solidFill>
            </a:endParaRPr>
          </a:p>
          <a:p>
            <a:r>
              <a:rPr dirty="0"/>
              <a:t> Formula for Outlier Detection:</a:t>
            </a:r>
          </a:p>
          <a:p>
            <a:r>
              <a:rPr dirty="0"/>
              <a:t>  </a:t>
            </a:r>
            <a:r>
              <a:rPr b="1" dirty="0">
                <a:solidFill>
                  <a:schemeClr val="bg1"/>
                </a:solidFill>
              </a:rPr>
              <a:t>=IF(ABS(B2-$N$2)&gt;3*$P$2,"Outlier","Normal")</a:t>
            </a: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b="1" dirty="0">
                <a:solidFill>
                  <a:schemeClr val="bg1"/>
                </a:solidFill>
              </a:rPr>
              <a:t>Insight:</a:t>
            </a:r>
          </a:p>
          <a:p>
            <a:r>
              <a:rPr dirty="0"/>
              <a:t>→ Extremely high SD indicates large variation or inconsistent data entries.</a:t>
            </a:r>
          </a:p>
          <a:p>
            <a:r>
              <a:rPr dirty="0"/>
              <a:t>→ May contain exceptionally high salaries or incorrect values.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213981" y="776218"/>
            <a:ext cx="3138487" cy="3487738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021" y="4263956"/>
            <a:ext cx="2211897" cy="7315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587" y="2915191"/>
            <a:ext cx="1998134" cy="3598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8726" y="1985010"/>
            <a:ext cx="5876924" cy="4044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Import: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Imported Salary Survey dataset (CSV) into </a:t>
            </a:r>
            <a:r>
              <a:rPr lang="en-US" b="1" dirty="0">
                <a:solidFill>
                  <a:schemeClr val="bg1"/>
                </a:solidFill>
              </a:rPr>
              <a:t>MySQL</a:t>
            </a:r>
            <a:r>
              <a:rPr lang="en-US" dirty="0">
                <a:solidFill>
                  <a:schemeClr val="bg1"/>
                </a:solidFill>
              </a:rPr>
              <a:t> for structured querying.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SQL Analysis: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Executed </a:t>
            </a:r>
            <a:r>
              <a:rPr lang="en-US" b="1" dirty="0">
                <a:solidFill>
                  <a:schemeClr val="bg1"/>
                </a:solidFill>
              </a:rPr>
              <a:t>10 analytical queries</a:t>
            </a:r>
            <a:r>
              <a:rPr lang="en-US" dirty="0">
                <a:solidFill>
                  <a:schemeClr val="bg1"/>
                </a:solidFill>
              </a:rPr>
              <a:t> to extract insights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Average, minimum &amp; maximum salary by </a:t>
            </a:r>
            <a:r>
              <a:rPr lang="en-US" b="1" dirty="0">
                <a:solidFill>
                  <a:schemeClr val="bg1"/>
                </a:solidFill>
              </a:rPr>
              <a:t>Education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Salary by </a:t>
            </a:r>
            <a:r>
              <a:rPr lang="en-US" b="1" dirty="0">
                <a:solidFill>
                  <a:schemeClr val="bg1"/>
                </a:solidFill>
              </a:rPr>
              <a:t>Job Title and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Salary distribution by </a:t>
            </a:r>
            <a:r>
              <a:rPr lang="en-US" b="1" dirty="0">
                <a:solidFill>
                  <a:schemeClr val="bg1"/>
                </a:solidFill>
              </a:rPr>
              <a:t>Gender and Country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Top earning </a:t>
            </a:r>
            <a:r>
              <a:rPr lang="en-US" b="1" dirty="0">
                <a:solidFill>
                  <a:schemeClr val="bg1"/>
                </a:solidFill>
              </a:rPr>
              <a:t>Industries &amp;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Count of respondents by category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4598" y="1158794"/>
            <a:ext cx="3737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0246F-AEBD-4B7A-A5B3-F5AE94FE1D92}"/>
              </a:ext>
            </a:extLst>
          </p:cNvPr>
          <p:cNvSpPr txBox="1"/>
          <p:nvPr/>
        </p:nvSpPr>
        <p:spPr>
          <a:xfrm>
            <a:off x="952500" y="1997838"/>
            <a:ext cx="5919787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Exported query results to </a:t>
            </a:r>
            <a:r>
              <a:rPr lang="en-US" sz="1800" b="1" dirty="0">
                <a:solidFill>
                  <a:schemeClr val="bg1"/>
                </a:solidFill>
              </a:rPr>
              <a:t>Excel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Created </a:t>
            </a:r>
            <a:r>
              <a:rPr lang="en-US" sz="1800" b="1" dirty="0">
                <a:solidFill>
                  <a:schemeClr val="bg1"/>
                </a:solidFill>
              </a:rPr>
              <a:t>10 charts</a:t>
            </a:r>
            <a:r>
              <a:rPr lang="en-US" sz="1800" dirty="0">
                <a:solidFill>
                  <a:schemeClr val="bg1"/>
                </a:solidFill>
              </a:rPr>
              <a:t> including bar, line, and pie charts.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Dashboard Creation: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Combined visuals into an </a:t>
            </a:r>
            <a:r>
              <a:rPr lang="en-US" sz="1800" b="1" dirty="0">
                <a:solidFill>
                  <a:schemeClr val="bg1"/>
                </a:solidFill>
              </a:rPr>
              <a:t>interactive dashboard</a:t>
            </a:r>
            <a:r>
              <a:rPr lang="en-US" sz="1800" dirty="0">
                <a:solidFill>
                  <a:schemeClr val="bg1"/>
                </a:solidFill>
              </a:rPr>
              <a:t> using slicers and KPIs.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Added filters for Education, Job Title, and Experience to view insights dynamically.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A72A2-E47C-4E33-B775-DC8558C2698F}"/>
              </a:ext>
            </a:extLst>
          </p:cNvPr>
          <p:cNvSpPr txBox="1"/>
          <p:nvPr/>
        </p:nvSpPr>
        <p:spPr>
          <a:xfrm>
            <a:off x="952500" y="1311817"/>
            <a:ext cx="534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Data Export &amp; Visualization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34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108" y="284387"/>
            <a:ext cx="6801197" cy="1524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Excel to  </a:t>
            </a:r>
            <a:r>
              <a:rPr lang="en-IN" sz="2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CREATED DB,TABLE &amp;executed queries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54402" y="1808387"/>
            <a:ext cx="4178677" cy="4208892"/>
          </a:xfrm>
        </p:spPr>
      </p:pic>
      <p:pic>
        <p:nvPicPr>
          <p:cNvPr id="19" name="Content Placeholder 18"/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4784810" y="1808387"/>
            <a:ext cx="3752550" cy="4208892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9" y="1419225"/>
            <a:ext cx="4124765" cy="4467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49" y="1385886"/>
            <a:ext cx="4227968" cy="4467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3460" y="463550"/>
            <a:ext cx="6944360" cy="751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DISTRIBUTION BY EDU &amp; ANN SAL BY JOB TITLE -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5381625"/>
            <a:ext cx="6699885" cy="72453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Annual salary  by gender and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6912" y="1362074"/>
            <a:ext cx="6076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28612"/>
            <a:ext cx="8265459" cy="4391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66" y="1638300"/>
            <a:ext cx="8606118" cy="45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888DB-9071-413D-9E22-56CB3A8526A1}"/>
              </a:ext>
            </a:extLst>
          </p:cNvPr>
          <p:cNvSpPr txBox="1"/>
          <p:nvPr/>
        </p:nvSpPr>
        <p:spPr>
          <a:xfrm>
            <a:off x="1971675" y="838200"/>
            <a:ext cx="490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USING RANK FOR PARTITION BY COUNTRY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6050" y="566738"/>
            <a:ext cx="3716866" cy="58737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 SQL QUERIES TO EXCEL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353" y="1244600"/>
            <a:ext cx="3932261" cy="31496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SQL QUERIES </a:t>
            </a:r>
            <a:r>
              <a:rPr lang="en-IN" b="1" dirty="0" err="1">
                <a:solidFill>
                  <a:schemeClr val="bg1"/>
                </a:solidFill>
              </a:rPr>
              <a:t>EXPOrTED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801715" y="1244600"/>
            <a:ext cx="3729983" cy="31496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>
          <a:xfrm>
            <a:off x="4758689" y="1327416"/>
            <a:ext cx="3764051" cy="532118"/>
          </a:xfrm>
        </p:spPr>
        <p:txBody>
          <a:bodyPr/>
          <a:lstStyle/>
          <a:p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 </a:t>
            </a:r>
            <a:r>
              <a:rPr lang="en-IN" sz="1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job &amp; </a:t>
            </a:r>
            <a:r>
              <a:rPr lang="en-IN" sz="1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  <a:endParaRPr lang="en-IN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3" y="1953836"/>
            <a:ext cx="4318544" cy="371148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12270"/>
            <a:ext cx="4137430" cy="3794617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315493" y="1253617"/>
            <a:ext cx="3716866" cy="609600"/>
          </a:xfrm>
        </p:spPr>
        <p:txBody>
          <a:bodyPr>
            <a:normAutofit/>
          </a:bodyPr>
          <a:lstStyle/>
          <a:p>
            <a:r>
              <a:rPr lang="en-IN" sz="1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salary by industry BY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5692" y="596886"/>
            <a:ext cx="536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QUERIES TO SQL EXCEL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1579067"/>
            <a:ext cx="5621417" cy="457200"/>
          </a:xfrm>
        </p:spPr>
        <p:txBody>
          <a:bodyPr>
            <a:normAutofit/>
          </a:bodyPr>
          <a:lstStyle/>
          <a:p>
            <a:r>
              <a:rPr lang="en-US" sz="1200" dirty="0"/>
              <a:t>Average </a:t>
            </a:r>
            <a:r>
              <a:rPr lang="en-US" sz="1200" dirty="0" err="1"/>
              <a:t>SaGenderlary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tx1"/>
                </a:solidFill>
              </a:rPr>
              <a:t>by </a:t>
            </a:r>
            <a:r>
              <a:rPr lang="en-IN" sz="1200" dirty="0">
                <a:solidFill>
                  <a:schemeClr val="tx1"/>
                </a:solidFill>
              </a:rPr>
              <a:t>Industry </a:t>
            </a:r>
            <a:r>
              <a:rPr lang="en-US" sz="1200" dirty="0">
                <a:solidFill>
                  <a:schemeClr val="tx1"/>
                </a:solidFill>
              </a:rPr>
              <a:t>and</a:t>
            </a:r>
          </a:p>
        </p:txBody>
      </p:sp>
      <p:pic>
        <p:nvPicPr>
          <p:cNvPr id="27" name="Picture Placeholder 26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3194" b="13194"/>
          <a:stretch>
            <a:fillRect/>
          </a:stretch>
        </p:blipFill>
        <p:spPr>
          <a:xfrm>
            <a:off x="133350" y="793880"/>
            <a:ext cx="8077200" cy="3124200"/>
          </a:xfrm>
          <a:prstGeom prst="snip2DiagRect">
            <a:avLst>
              <a:gd name="adj1" fmla="val 10815"/>
              <a:gd name="adj2" fmla="val 304"/>
            </a:avLst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4009297"/>
            <a:ext cx="5438775" cy="274377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43075" y="270660"/>
            <a:ext cx="5962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 TABLE &amp; CHART USING QUERIES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31290" y="1405255"/>
            <a:ext cx="3393440" cy="841375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op 10 Industries-Average Salary by gender (men &amp; women) – pivot charts &amp; </a:t>
            </a:r>
            <a:r>
              <a:rPr lang="en-US" sz="2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kpi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summary</a:t>
            </a:r>
            <a:b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</a:br>
            <a:endParaRPr lang="en-IN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Content Placeholder 34"/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478155" y="2603500"/>
            <a:ext cx="3975100" cy="3690620"/>
          </a:xfrm>
        </p:spPr>
      </p:pic>
      <p:sp>
        <p:nvSpPr>
          <p:cNvPr id="37" name="Content Placeholder 36"/>
          <p:cNvSpPr>
            <a:spLocks noGrp="1"/>
          </p:cNvSpPr>
          <p:nvPr>
            <p:ph sz="quarter" idx="4"/>
          </p:nvPr>
        </p:nvSpPr>
        <p:spPr>
          <a:xfrm>
            <a:off x="4881436" y="1071560"/>
            <a:ext cx="3948238" cy="52863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🔹 Highest </a:t>
            </a:r>
            <a:r>
              <a:rPr lang="en-US" sz="1100" b="1" dirty="0"/>
              <a:t>Paying</a:t>
            </a:r>
            <a:r>
              <a:rPr lang="en-US" sz="1200" b="1" dirty="0"/>
              <a:t> Industry: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Computing or Tech – ₹244,486.45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Indicates strong market demand and higher compensation for technology professionals.</a:t>
            </a:r>
          </a:p>
          <a:p>
            <a:pPr marL="0" indent="0">
              <a:buNone/>
            </a:pPr>
            <a:r>
              <a:rPr lang="en-US" sz="1200" b="1" dirty="0"/>
              <a:t>🔹 Lowest Paying Industry: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Government &amp; Public Administration – ₹174,693.09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Reflects structured pay scales and lower flexibility in public-sector salary growth.</a:t>
            </a:r>
          </a:p>
          <a:p>
            <a:pPr marL="0" indent="0">
              <a:buNone/>
            </a:pPr>
            <a:r>
              <a:rPr lang="en-US" sz="1200" b="1" dirty="0"/>
              <a:t>🔹 Average Salary (Across Top 10):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₹194,326.26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Represents the overall average earning potential across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</a:t>
            </a:r>
            <a:r>
              <a:rPr lang="en-US" sz="1200" dirty="0"/>
              <a:t> industries.</a:t>
            </a:r>
          </a:p>
          <a:p>
            <a:pPr marL="0" indent="0">
              <a:buNone/>
            </a:pPr>
            <a:r>
              <a:rPr lang="en-US" sz="1200" b="1" dirty="0"/>
              <a:t>🔹 Pay Gap (Top vs Bottom):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₹69,793 difference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Shows a noticeable disparity between the highest and lowest paying industries.</a:t>
            </a:r>
          </a:p>
          <a:p>
            <a:pPr marL="0" indent="0">
              <a:buNone/>
            </a:pPr>
            <a:r>
              <a:rPr lang="en-US" sz="1200" b="1" dirty="0"/>
              <a:t>🔹 Top 3 Industries by Salary:</a:t>
            </a:r>
            <a:br>
              <a:rPr lang="en-US" sz="1200" dirty="0"/>
            </a:br>
            <a:r>
              <a:rPr lang="en-US" sz="1200" dirty="0"/>
              <a:t>1️ Computing or Tech – ₹244K</a:t>
            </a:r>
            <a:br>
              <a:rPr lang="en-US" sz="1200" dirty="0"/>
            </a:br>
            <a:r>
              <a:rPr lang="en-US" sz="1200" dirty="0"/>
              <a:t>2️ Property or Construction – ₹215K</a:t>
            </a:r>
            <a:br>
              <a:rPr lang="en-US" sz="1200" dirty="0"/>
            </a:br>
            <a:r>
              <a:rPr lang="en-US" sz="1200" dirty="0"/>
              <a:t>3️ Business or Consulting – ₹197K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118" y="780990"/>
            <a:ext cx="3589020" cy="2209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" y="686132"/>
            <a:ext cx="4006491" cy="36009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6725" y="3065592"/>
            <a:ext cx="44827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Summary</a:t>
            </a:r>
          </a:p>
          <a:p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Highest Paying Job Title: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Laboratory Technician – ₹1,303,000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Leads all job titles in total compensation, indicating high value placed on specialized technical skills in lab environments.</a:t>
            </a:r>
          </a:p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Next Top Roles: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 – ₹947,000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– ₹864,825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Engineer – ₹738,000</a:t>
            </a:r>
            <a:b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roles represent core analytical and management positions driving organizational success.</a:t>
            </a:r>
          </a:p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Middle Tier: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Manager (₹718K)</a:t>
            </a: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of Strategic Initiatives (₹700K)</a:t>
            </a: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Equity Partner (₹600K)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 senior or leadership-level positions with strategic responsibilities.</a:t>
            </a:r>
          </a:p>
          <a:p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Lower End of Top 10: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Attorney (₹571K)</a:t>
            </a: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Editor (₹557K)</a:t>
            </a: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Accounting Manager (₹510K)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within the top 10, but compensation is relatively moderate compared to technical and leadership roles.</a:t>
            </a:r>
          </a:p>
        </p:txBody>
      </p:sp>
      <p:graphicFrame>
        <p:nvGraphicFramePr>
          <p:cNvPr id="15" name="Chart 14"/>
          <p:cNvGraphicFramePr/>
          <p:nvPr/>
        </p:nvGraphicFramePr>
        <p:xfrm>
          <a:off x="92868" y="4287117"/>
          <a:ext cx="3849329" cy="226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35025" y="86360"/>
            <a:ext cx="6473190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2400" b="1" dirty="0">
                <a:ln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COMPENSATION BY JOB TITLE &amp; KPI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44388" y="976798"/>
          <a:ext cx="2974019" cy="2636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type="pic" idx="4294967295"/>
          </p:nvPr>
        </p:nvGraphicFramePr>
        <p:xfrm>
          <a:off x="3018407" y="1007070"/>
          <a:ext cx="2974019" cy="2636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5992426" y="1007070"/>
          <a:ext cx="2947387" cy="2636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44388" y="3643589"/>
          <a:ext cx="2974018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3018406" y="3688099"/>
          <a:ext cx="2842259" cy="2592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5860666" y="3688099"/>
          <a:ext cx="3079147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60930" y="283845"/>
            <a:ext cx="4377055" cy="528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SURVEY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989" y="2112885"/>
            <a:ext cx="56905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From Dashboard: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education levels (Master’s &amp; PhD) directly correlate with higher salaries.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Engineering, Software, and Oil &amp; Gas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industries lead in compensation.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and Nonprofit sectors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 below-average pay.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growth is steep after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5+ years of experience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gap ~8–10%, narrowing in senior positions.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countries (US, UK, Netherlands) show higher median salaries.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81675" y="360638"/>
          <a:ext cx="3078776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3160451" y="360638"/>
          <a:ext cx="3078776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239227" y="429218"/>
          <a:ext cx="2773383" cy="252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11910" y="1496695"/>
            <a:ext cx="5737225" cy="24936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matters: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education levels (College, Master’s, PhD) lead to significantly higher average salaries.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drives growth: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Professionals with 10+ years of experience earn 2–3× more than entry-level roles.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Top-paying fields: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Consulting, STEM, Health Care, and Technology show the highest compensation levels.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trends: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Women perform strongly in STEM and Consulting, though a slight pay gap persists in traditional sectors.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Outliers: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few high salaries (&gt;$1M) influence averages, showing executive-level representation.</a:t>
            </a:r>
          </a:p>
          <a:p>
            <a:endParaRPr lang="en-IN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40273" y="328121"/>
            <a:ext cx="52955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5835" y="2387600"/>
            <a:ext cx="6400800" cy="28035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Salary Survey Dashboard demonstrates how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analysis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visualization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together can uncover valuable workforce insights.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confirms that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education, experience, and job title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the strongest factors influencing salary levels.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analysis supports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compensation strategies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promoting transparency and informed decision-making.</a:t>
            </a: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94635" y="158369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FDB0C-2388-4909-B725-41C41B5FA86E}"/>
              </a:ext>
            </a:extLst>
          </p:cNvPr>
          <p:cNvSpPr/>
          <p:nvPr/>
        </p:nvSpPr>
        <p:spPr>
          <a:xfrm>
            <a:off x="2124075" y="2967334"/>
            <a:ext cx="4376501" cy="92333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highlight>
                  <a:srgbClr val="0000FF"/>
                </a:highlight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37832854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</TotalTime>
  <Words>1023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Wingdings</vt:lpstr>
      <vt:lpstr>Wingdings 3</vt:lpstr>
      <vt:lpstr>Slice</vt:lpstr>
      <vt:lpstr>Salary Survey Data Analysis Project-Milestone-1</vt:lpstr>
      <vt:lpstr>Project overview </vt:lpstr>
      <vt:lpstr>Data Cleaning &amp; Preparation</vt:lpstr>
      <vt:lpstr>Handling Missing values</vt:lpstr>
      <vt:lpstr>Descriptive Statistics</vt:lpstr>
      <vt:lpstr>PowerPoint Presentation</vt:lpstr>
      <vt:lpstr>PowerPoint Presentation</vt:lpstr>
      <vt:lpstr>Imported Excel to  sql, CREATED DB,TABLE &amp;executed queries</vt:lpstr>
      <vt:lpstr>PowerPoint Presentation</vt:lpstr>
      <vt:lpstr>Annual salary  by gender and age</vt:lpstr>
      <vt:lpstr>PowerPoint Presentation</vt:lpstr>
      <vt:lpstr>PowerPoint Presentation</vt:lpstr>
      <vt:lpstr> </vt:lpstr>
      <vt:lpstr>Average SaGenderlary by Industry and</vt:lpstr>
      <vt:lpstr> top 10 Industries-Average Salary by gender (men &amp; women) – pivot charts &amp; kpi 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Survey Data Analysis Project</dc:title>
  <dc:creator>lalitha Raj</dc:creator>
  <dc:description>generated using python-pptx</dc:description>
  <cp:lastModifiedBy>lalitha Raj</cp:lastModifiedBy>
  <cp:revision>143</cp:revision>
  <dcterms:created xsi:type="dcterms:W3CDTF">2013-01-27T09:14:00Z</dcterms:created>
  <dcterms:modified xsi:type="dcterms:W3CDTF">2026-01-14T18:17:13Z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592ADF75D376429E9C33F9E26A4A7630_12</vt:lpwstr>
  </property>
  <property fmtid="{D5CDD505-2E9C-101B-9397-08002B2CF9AE}" pid="3" name="KSOProductBuildVer">
    <vt:lpwstr>1033-12.2.0.23196</vt:lpwstr>
  </property>
</Properties>
</file>